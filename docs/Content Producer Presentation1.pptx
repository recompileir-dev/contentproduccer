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1" r:id="rId5"/>
    <p:sldId id="259" r:id="rId6"/>
    <p:sldId id="260" r:id="rId7"/>
    <p:sldId id="262" r:id="rId8"/>
    <p:sldId id="263" r:id="rId9"/>
    <p:sldId id="264" r:id="rId10"/>
    <p:sldId id="265" r:id="rId11"/>
    <p:sldId id="267" r:id="rId12"/>
    <p:sldId id="269" r:id="rId13"/>
    <p:sldId id="268"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74" y="2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152B1A-94D2-4409-B512-AB650511253A}"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2976655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152B1A-94D2-4409-B512-AB650511253A}"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991179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152B1A-94D2-4409-B512-AB650511253A}"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271469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152B1A-94D2-4409-B512-AB650511253A}"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173363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152B1A-94D2-4409-B512-AB650511253A}"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2958479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152B1A-94D2-4409-B512-AB650511253A}"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174434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152B1A-94D2-4409-B512-AB650511253A}" type="datetimeFigureOut">
              <a:rPr lang="en-US"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4147771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152B1A-94D2-4409-B512-AB650511253A}"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237748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152B1A-94D2-4409-B512-AB650511253A}"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2107827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152B1A-94D2-4409-B512-AB650511253A}"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855852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152B1A-94D2-4409-B512-AB650511253A}"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9FE618B-3CCC-4E2D-974C-4EBEFC35CA9F}"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434172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9152B1A-94D2-4409-B512-AB650511253A}"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41930451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9152B1A-94D2-4409-B512-AB650511253A}"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9FE618B-3CCC-4E2D-974C-4EBEFC35CA9F}"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128689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9152B1A-94D2-4409-B512-AB650511253A}"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11294488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152B1A-94D2-4409-B512-AB650511253A}"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4053724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152B1A-94D2-4409-B512-AB650511253A}"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9FE618B-3CCC-4E2D-974C-4EBEFC35CA9F}" type="slidenum">
              <a:rPr lang="en-US" smtClean="0"/>
              <a:t>‹#›</a:t>
            </a:fld>
            <a:endParaRPr lang="en-US"/>
          </a:p>
        </p:txBody>
      </p:sp>
    </p:spTree>
    <p:extLst>
      <p:ext uri="{BB962C8B-B14F-4D97-AF65-F5344CB8AC3E}">
        <p14:creationId xmlns:p14="http://schemas.microsoft.com/office/powerpoint/2010/main" val="779444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9152B1A-94D2-4409-B512-AB650511253A}" type="datetimeFigureOut">
              <a:rPr lang="en-US" smtClean="0"/>
              <a:t>6/5/2026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9FE618B-3CCC-4E2D-974C-4EBEFC35CA9F}" type="slidenum">
              <a:rPr lang="en-US" smtClean="0"/>
              <a:t>‹#›</a:t>
            </a:fld>
            <a:endParaRPr lang="en-US"/>
          </a:p>
        </p:txBody>
      </p:sp>
    </p:spTree>
    <p:extLst>
      <p:ext uri="{BB962C8B-B14F-4D97-AF65-F5344CB8AC3E}">
        <p14:creationId xmlns:p14="http://schemas.microsoft.com/office/powerpoint/2010/main" val="26455672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recompile.ir/" TargetMode="External"/><Relationship Id="rId7" Type="http://schemas.openxmlformats.org/officeDocument/2006/relationships/image" Target="../media/image7.png"/><Relationship Id="rId2" Type="http://schemas.openxmlformats.org/officeDocument/2006/relationships/hyperlink" Target="https://github.com/recompileir-dev/ContentProduccer"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t.me/recompile_i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CCAFB-D376-40F3-97B6-F79044B9F18F}"/>
              </a:ext>
            </a:extLst>
          </p:cNvPr>
          <p:cNvSpPr>
            <a:spLocks noGrp="1"/>
          </p:cNvSpPr>
          <p:nvPr>
            <p:ph type="ctrTitle"/>
          </p:nvPr>
        </p:nvSpPr>
        <p:spPr/>
        <p:txBody>
          <a:bodyPr/>
          <a:lstStyle/>
          <a:p>
            <a:pPr algn="r" rtl="1"/>
            <a:r>
              <a:rPr lang="fa-IR" dirty="0">
                <a:solidFill>
                  <a:schemeClr val="accent1"/>
                </a:solidFill>
                <a:cs typeface="B Nazanin" panose="00000400000000000000" pitchFamily="2" charset="-78"/>
              </a:rPr>
              <a:t>اولین تجربه تولید کامل یک ایده با </a:t>
            </a:r>
            <a:r>
              <a:rPr lang="en-US" dirty="0">
                <a:solidFill>
                  <a:schemeClr val="accent1"/>
                </a:solidFill>
                <a:cs typeface="B Nazanin" panose="00000400000000000000" pitchFamily="2" charset="-78"/>
              </a:rPr>
              <a:t>AI</a:t>
            </a:r>
          </a:p>
        </p:txBody>
      </p:sp>
      <p:sp>
        <p:nvSpPr>
          <p:cNvPr id="3" name="Subtitle 2">
            <a:extLst>
              <a:ext uri="{FF2B5EF4-FFF2-40B4-BE49-F238E27FC236}">
                <a16:creationId xmlns:a16="http://schemas.microsoft.com/office/drawing/2014/main" id="{4A4E5621-6236-45F0-9495-4F9E750463CC}"/>
              </a:ext>
            </a:extLst>
          </p:cNvPr>
          <p:cNvSpPr>
            <a:spLocks noGrp="1"/>
          </p:cNvSpPr>
          <p:nvPr>
            <p:ph type="subTitle" idx="1"/>
          </p:nvPr>
        </p:nvSpPr>
        <p:spPr/>
        <p:txBody>
          <a:bodyPr/>
          <a:lstStyle/>
          <a:p>
            <a:r>
              <a:rPr lang="fa-IR" dirty="0">
                <a:cs typeface="B Nazanin" panose="00000400000000000000" pitchFamily="2" charset="-78"/>
              </a:rPr>
              <a:t>بهار 1405</a:t>
            </a:r>
            <a:endParaRPr lang="en-US" dirty="0">
              <a:cs typeface="B Nazanin" panose="00000400000000000000" pitchFamily="2" charset="-78"/>
            </a:endParaRPr>
          </a:p>
        </p:txBody>
      </p:sp>
    </p:spTree>
    <p:extLst>
      <p:ext uri="{BB962C8B-B14F-4D97-AF65-F5344CB8AC3E}">
        <p14:creationId xmlns:p14="http://schemas.microsoft.com/office/powerpoint/2010/main" val="2692632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77A-F9CF-424F-84AA-D8C843F1B4C4}"/>
              </a:ext>
            </a:extLst>
          </p:cNvPr>
          <p:cNvSpPr>
            <a:spLocks noGrp="1"/>
          </p:cNvSpPr>
          <p:nvPr>
            <p:ph type="title"/>
          </p:nvPr>
        </p:nvSpPr>
        <p:spPr/>
        <p:txBody>
          <a:bodyPr/>
          <a:lstStyle/>
          <a:p>
            <a:pPr algn="r"/>
            <a:r>
              <a:rPr lang="fa-IR" b="1" i="0" dirty="0">
                <a:solidFill>
                  <a:schemeClr val="accent1"/>
                </a:solidFill>
                <a:effectLst/>
                <a:latin typeface="-apple-system"/>
                <a:cs typeface="B Nazanin" panose="00000400000000000000" pitchFamily="2" charset="-78"/>
              </a:rPr>
              <a:t>خلاصه </a:t>
            </a:r>
            <a:br>
              <a:rPr lang="fa-IR" b="1" i="0" dirty="0">
                <a:solidFill>
                  <a:schemeClr val="accent1"/>
                </a:solidFill>
                <a:effectLst/>
                <a:latin typeface="-apple-system"/>
                <a:cs typeface="B Nazanin" panose="00000400000000000000" pitchFamily="2" charset="-78"/>
              </a:rPr>
            </a:br>
            <a:endParaRPr lang="en-US" dirty="0">
              <a:solidFill>
                <a:schemeClr val="accent1"/>
              </a:solidFill>
              <a:cs typeface="B Nazanin" panose="00000400000000000000" pitchFamily="2" charset="-78"/>
            </a:endParaRPr>
          </a:p>
        </p:txBody>
      </p:sp>
      <p:sp>
        <p:nvSpPr>
          <p:cNvPr id="3" name="Content Placeholder 2">
            <a:extLst>
              <a:ext uri="{FF2B5EF4-FFF2-40B4-BE49-F238E27FC236}">
                <a16:creationId xmlns:a16="http://schemas.microsoft.com/office/drawing/2014/main" id="{0619F152-B119-4B23-9A5D-EB233158E6F0}"/>
              </a:ext>
            </a:extLst>
          </p:cNvPr>
          <p:cNvSpPr>
            <a:spLocks noGrp="1"/>
          </p:cNvSpPr>
          <p:nvPr>
            <p:ph idx="1"/>
          </p:nvPr>
        </p:nvSpPr>
        <p:spPr/>
        <p:txBody>
          <a:bodyPr>
            <a:normAutofit/>
          </a:bodyPr>
          <a:lstStyle/>
          <a:p>
            <a:pPr algn="just" rtl="1"/>
            <a:r>
              <a:rPr lang="en-US" b="0" i="0" dirty="0">
                <a:solidFill>
                  <a:schemeClr val="tx1"/>
                </a:solidFill>
                <a:effectLst/>
                <a:latin typeface="-apple-system"/>
                <a:cs typeface="B Nazanin" panose="00000400000000000000" pitchFamily="2" charset="-78"/>
              </a:rPr>
              <a:t> Content Producer </a:t>
            </a:r>
            <a:r>
              <a:rPr lang="fa-IR" b="0" i="0" dirty="0">
                <a:solidFill>
                  <a:schemeClr val="tx1"/>
                </a:solidFill>
                <a:effectLst/>
                <a:latin typeface="-apple-system"/>
                <a:cs typeface="B Nazanin" panose="00000400000000000000" pitchFamily="2" charset="-78"/>
              </a:rPr>
              <a:t>یک </a:t>
            </a:r>
            <a:r>
              <a:rPr lang="en-US" b="0" i="0" dirty="0">
                <a:solidFill>
                  <a:schemeClr val="tx1"/>
                </a:solidFill>
                <a:effectLst/>
                <a:latin typeface="-apple-system"/>
                <a:cs typeface="B Nazanin" panose="00000400000000000000" pitchFamily="2" charset="-78"/>
              </a:rPr>
              <a:t>Worker </a:t>
            </a:r>
            <a:r>
              <a:rPr lang="fa-IR" b="0" i="0" dirty="0">
                <a:solidFill>
                  <a:schemeClr val="tx1"/>
                </a:solidFill>
                <a:effectLst/>
                <a:latin typeface="-apple-system"/>
                <a:cs typeface="B Nazanin" panose="00000400000000000000" pitchFamily="2" charset="-78"/>
              </a:rPr>
              <a:t>سرویس با .</a:t>
            </a:r>
            <a:r>
              <a:rPr lang="en-US" b="0" i="0" dirty="0">
                <a:solidFill>
                  <a:schemeClr val="tx1"/>
                </a:solidFill>
                <a:effectLst/>
                <a:latin typeface="-apple-system"/>
                <a:cs typeface="B Nazanin" panose="00000400000000000000" pitchFamily="2" charset="-78"/>
              </a:rPr>
              <a:t>NET </a:t>
            </a:r>
            <a:r>
              <a:rPr lang="fa-IR" b="0" i="0" dirty="0">
                <a:solidFill>
                  <a:schemeClr val="tx1"/>
                </a:solidFill>
                <a:effectLst/>
                <a:latin typeface="-apple-system"/>
                <a:cs typeface="B Nazanin" panose="00000400000000000000" pitchFamily="2" charset="-78"/>
              </a:rPr>
              <a:t>است که تولید و انتشار محتوای فارسی را به‌صورت زمان‌بندی‌شده یا دستی اجرا می‌کند. سامانه از </a:t>
            </a:r>
            <a:r>
              <a:rPr lang="en-US" b="0" i="0" dirty="0">
                <a:solidFill>
                  <a:schemeClr val="tx1"/>
                </a:solidFill>
                <a:effectLst/>
                <a:latin typeface="-apple-system"/>
                <a:cs typeface="B Nazanin" panose="00000400000000000000" pitchFamily="2" charset="-78"/>
              </a:rPr>
              <a:t>Provider</a:t>
            </a:r>
            <a:r>
              <a:rPr lang="fa-IR" b="0" i="0" dirty="0">
                <a:solidFill>
                  <a:schemeClr val="tx1"/>
                </a:solidFill>
                <a:effectLst/>
                <a:latin typeface="-apple-system"/>
                <a:cs typeface="B Nazanin" panose="00000400000000000000" pitchFamily="2" charset="-78"/>
              </a:rPr>
              <a:t>های مختلف برای تولید مقاله و تصویر استفاده می‌کند و خروجی را به وردپرس، تلگرام و در صورت وجود تصویر به اینستاگرام منتشر می‌کند.</a:t>
            </a:r>
            <a:endParaRPr lang="en-US" b="0" i="0" dirty="0">
              <a:solidFill>
                <a:schemeClr val="tx1"/>
              </a:solidFill>
              <a:effectLst/>
              <a:latin typeface="-apple-system"/>
              <a:cs typeface="B Nazanin" panose="00000400000000000000" pitchFamily="2" charset="-78"/>
            </a:endParaRPr>
          </a:p>
          <a:p>
            <a:pPr marL="0" indent="0" algn="just" rtl="1">
              <a:buNone/>
            </a:pPr>
            <a:endParaRPr lang="en-US" b="0" i="0" dirty="0">
              <a:solidFill>
                <a:schemeClr val="tx1"/>
              </a:solidFill>
              <a:effectLst/>
              <a:latin typeface="-apple-system"/>
              <a:cs typeface="B Nazanin" panose="00000400000000000000" pitchFamily="2" charset="-78"/>
            </a:endParaRPr>
          </a:p>
          <a:p>
            <a:pPr algn="just" rtl="1"/>
            <a:r>
              <a:rPr lang="fa-IR" dirty="0">
                <a:solidFill>
                  <a:schemeClr val="tx1"/>
                </a:solidFill>
                <a:latin typeface="-apple-system"/>
                <a:cs typeface="B Nazanin" panose="00000400000000000000" pitchFamily="2" charset="-78"/>
              </a:rPr>
              <a:t>محصول </a:t>
            </a:r>
            <a:r>
              <a:rPr lang="fa-IR" b="0" i="0" dirty="0">
                <a:solidFill>
                  <a:schemeClr val="tx1"/>
                </a:solidFill>
                <a:effectLst/>
                <a:latin typeface="-apple-system"/>
                <a:cs typeface="B Nazanin" panose="00000400000000000000" pitchFamily="2" charset="-78"/>
              </a:rPr>
              <a:t>از یک ایده ساده شروع شد: تولید خودکار محتوای روزانه با هوش مصنوعی و انتشار آن در وردپرس، اینستاگرام و کانال‌های اجتماعی که </a:t>
            </a:r>
            <a:r>
              <a:rPr lang="fa-IR" b="1" i="0" dirty="0">
                <a:solidFill>
                  <a:schemeClr val="tx1"/>
                </a:solidFill>
                <a:effectLst/>
                <a:latin typeface="-apple-system"/>
                <a:cs typeface="B Nazanin" panose="00000400000000000000" pitchFamily="2" charset="-78"/>
              </a:rPr>
              <a:t>کاملا با هوش مصنوعی تولید و انجام شود.</a:t>
            </a:r>
            <a:endParaRPr lang="en-US" b="1" i="0" dirty="0">
              <a:solidFill>
                <a:schemeClr val="tx1"/>
              </a:solidFill>
              <a:effectLst/>
              <a:latin typeface="-apple-system"/>
              <a:cs typeface="B Nazanin" panose="00000400000000000000" pitchFamily="2" charset="-78"/>
            </a:endParaRPr>
          </a:p>
          <a:p>
            <a:pPr algn="just" rtl="1"/>
            <a:r>
              <a:rPr lang="fa-IR" b="0" i="0" dirty="0">
                <a:solidFill>
                  <a:schemeClr val="tx1"/>
                </a:solidFill>
                <a:effectLst/>
                <a:latin typeface="-apple-system"/>
                <a:cs typeface="B Nazanin" panose="00000400000000000000" pitchFamily="2" charset="-78"/>
              </a:rPr>
              <a:t> مسیر توسعه به‌جای ساخت یک سیستم بزرگ و پیچیده، با یک</a:t>
            </a:r>
            <a:r>
              <a:rPr lang="en-US" b="0" i="0" dirty="0">
                <a:solidFill>
                  <a:schemeClr val="tx1"/>
                </a:solidFill>
                <a:effectLst/>
                <a:latin typeface="-apple-system"/>
                <a:cs typeface="B Nazanin" panose="00000400000000000000" pitchFamily="2" charset="-78"/>
              </a:rPr>
              <a:t>MVP </a:t>
            </a:r>
            <a:r>
              <a:rPr lang="fa-IR" b="0" i="0" dirty="0">
                <a:solidFill>
                  <a:schemeClr val="tx1"/>
                </a:solidFill>
                <a:effectLst/>
                <a:latin typeface="-apple-system"/>
                <a:cs typeface="B Nazanin" panose="00000400000000000000" pitchFamily="2" charset="-78"/>
              </a:rPr>
              <a:t>واقعی و قابل اجرا شروع شد: </a:t>
            </a:r>
            <a:r>
              <a:rPr lang="en-US" b="0" i="0" dirty="0">
                <a:solidFill>
                  <a:schemeClr val="tx1"/>
                </a:solidFill>
                <a:effectLst/>
                <a:latin typeface="-apple-system"/>
                <a:cs typeface="B Nazanin" panose="00000400000000000000" pitchFamily="2" charset="-78"/>
              </a:rPr>
              <a:t>Worker </a:t>
            </a:r>
            <a:r>
              <a:rPr lang="fa-IR" b="0" i="0" dirty="0">
                <a:solidFill>
                  <a:schemeClr val="tx1"/>
                </a:solidFill>
                <a:effectLst/>
                <a:latin typeface="-apple-system"/>
                <a:cs typeface="B Nazanin" panose="00000400000000000000" pitchFamily="2" charset="-78"/>
              </a:rPr>
              <a:t>زمان‌بندی‌شده، بدون دیتابیس، بدون</a:t>
            </a:r>
            <a:r>
              <a:rPr lang="en-US" b="0" i="0" dirty="0">
                <a:solidFill>
                  <a:schemeClr val="tx1"/>
                </a:solidFill>
                <a:effectLst/>
                <a:latin typeface="-apple-system"/>
                <a:cs typeface="B Nazanin" panose="00000400000000000000" pitchFamily="2" charset="-78"/>
              </a:rPr>
              <a:t>lock  </a:t>
            </a:r>
            <a:r>
              <a:rPr lang="fa-IR" b="0" i="0" dirty="0">
                <a:solidFill>
                  <a:schemeClr val="tx1"/>
                </a:solidFill>
                <a:effectLst/>
                <a:latin typeface="-apple-system"/>
                <a:cs typeface="B Nazanin" panose="00000400000000000000" pitchFamily="2" charset="-78"/>
              </a:rPr>
              <a:t>توزیع‌شده، با قابلیت اجرای دستی برای تست.</a:t>
            </a:r>
          </a:p>
          <a:p>
            <a:pPr algn="just" rtl="1"/>
            <a:r>
              <a:rPr lang="fa-IR" b="0" i="0" dirty="0">
                <a:solidFill>
                  <a:schemeClr val="tx1"/>
                </a:solidFill>
                <a:effectLst/>
                <a:latin typeface="-apple-system"/>
                <a:cs typeface="B Nazanin" panose="00000400000000000000" pitchFamily="2" charset="-78"/>
              </a:rPr>
              <a:t>در ادامه پروژه از یک </a:t>
            </a:r>
            <a:r>
              <a:rPr lang="en-US" b="0" i="0" dirty="0">
                <a:solidFill>
                  <a:schemeClr val="tx1"/>
                </a:solidFill>
                <a:effectLst/>
                <a:latin typeface="-apple-system"/>
                <a:cs typeface="B Nazanin" panose="00000400000000000000" pitchFamily="2" charset="-78"/>
              </a:rPr>
              <a:t>Worker </a:t>
            </a:r>
            <a:r>
              <a:rPr lang="fa-IR" b="0" i="0" dirty="0">
                <a:solidFill>
                  <a:schemeClr val="tx1"/>
                </a:solidFill>
                <a:effectLst/>
                <a:latin typeface="-apple-system"/>
                <a:cs typeface="B Nazanin" panose="00000400000000000000" pitchFamily="2" charset="-78"/>
              </a:rPr>
              <a:t>ساده به یک سامانه قابل تنظیم تبدیل شد که چند </a:t>
            </a:r>
            <a:r>
              <a:rPr lang="en-US" b="0" i="0" dirty="0">
                <a:solidFill>
                  <a:schemeClr val="tx1"/>
                </a:solidFill>
                <a:effectLst/>
                <a:latin typeface="-apple-system"/>
                <a:cs typeface="B Nazanin" panose="00000400000000000000" pitchFamily="2" charset="-78"/>
              </a:rPr>
              <a:t>Provider </a:t>
            </a:r>
            <a:r>
              <a:rPr lang="fa-IR" b="0" i="0" dirty="0">
                <a:solidFill>
                  <a:schemeClr val="tx1"/>
                </a:solidFill>
                <a:effectLst/>
                <a:latin typeface="-apple-system"/>
                <a:cs typeface="B Nazanin" panose="00000400000000000000" pitchFamily="2" charset="-78"/>
              </a:rPr>
              <a:t>محتوا دارد، می‌تواند با </a:t>
            </a:r>
            <a:r>
              <a:rPr lang="en-US" b="0" i="0" dirty="0" err="1">
                <a:solidFill>
                  <a:schemeClr val="tx1"/>
                </a:solidFill>
                <a:effectLst/>
                <a:latin typeface="-apple-system"/>
                <a:cs typeface="B Nazanin" panose="00000400000000000000" pitchFamily="2" charset="-78"/>
              </a:rPr>
              <a:t>OpenAI</a:t>
            </a:r>
            <a:r>
              <a:rPr lang="en-US" b="0" i="0" dirty="0">
                <a:solidFill>
                  <a:schemeClr val="tx1"/>
                </a:solidFill>
                <a:effectLst/>
                <a:latin typeface="-apple-system"/>
                <a:cs typeface="B Nazanin" panose="00000400000000000000" pitchFamily="2" charset="-78"/>
              </a:rPr>
              <a:t>، </a:t>
            </a:r>
            <a:r>
              <a:rPr lang="en-US" b="0" i="0" dirty="0" err="1">
                <a:solidFill>
                  <a:schemeClr val="tx1"/>
                </a:solidFill>
                <a:effectLst/>
                <a:latin typeface="-apple-system"/>
                <a:cs typeface="B Nazanin" panose="00000400000000000000" pitchFamily="2" charset="-78"/>
              </a:rPr>
              <a:t>Groq</a:t>
            </a:r>
            <a:r>
              <a:rPr lang="en-US" b="0" i="0" dirty="0">
                <a:solidFill>
                  <a:schemeClr val="tx1"/>
                </a:solidFill>
                <a:effectLst/>
                <a:latin typeface="-apple-system"/>
                <a:cs typeface="B Nazanin" panose="00000400000000000000" pitchFamily="2" charset="-78"/>
              </a:rPr>
              <a:t> </a:t>
            </a:r>
            <a:r>
              <a:rPr lang="fa-IR" b="0" i="0" dirty="0">
                <a:solidFill>
                  <a:schemeClr val="tx1"/>
                </a:solidFill>
                <a:effectLst/>
                <a:latin typeface="-apple-system"/>
                <a:cs typeface="B Nazanin" panose="00000400000000000000" pitchFamily="2" charset="-78"/>
              </a:rPr>
              <a:t>یا </a:t>
            </a:r>
            <a:r>
              <a:rPr lang="en-US" b="0" i="0" dirty="0">
                <a:solidFill>
                  <a:schemeClr val="tx1"/>
                </a:solidFill>
                <a:effectLst/>
                <a:latin typeface="-apple-system"/>
                <a:cs typeface="B Nazanin" panose="00000400000000000000" pitchFamily="2" charset="-78"/>
              </a:rPr>
              <a:t>fixture </a:t>
            </a:r>
            <a:r>
              <a:rPr lang="fa-IR" b="0" i="0" dirty="0">
                <a:solidFill>
                  <a:schemeClr val="tx1"/>
                </a:solidFill>
                <a:effectLst/>
                <a:latin typeface="-apple-system"/>
                <a:cs typeface="B Nazanin" panose="00000400000000000000" pitchFamily="2" charset="-78"/>
              </a:rPr>
              <a:t> کار کند، خروجی را به وردپرس، تلگرام و اینستاگرام بفرستد، بدون تصویر هم کار کند، </a:t>
            </a:r>
            <a:r>
              <a:rPr lang="en-US" b="0" i="0" dirty="0" err="1">
                <a:solidFill>
                  <a:schemeClr val="tx1"/>
                </a:solidFill>
                <a:effectLst/>
                <a:latin typeface="-apple-system"/>
                <a:cs typeface="B Nazanin" panose="00000400000000000000" pitchFamily="2" charset="-78"/>
              </a:rPr>
              <a:t>Dockerized</a:t>
            </a:r>
            <a:r>
              <a:rPr lang="en-US" b="0" i="0" dirty="0">
                <a:solidFill>
                  <a:schemeClr val="tx1"/>
                </a:solidFill>
                <a:effectLst/>
                <a:latin typeface="-apple-system"/>
                <a:cs typeface="B Nazanin" panose="00000400000000000000" pitchFamily="2" charset="-78"/>
              </a:rPr>
              <a:t> </a:t>
            </a:r>
            <a:r>
              <a:rPr lang="fa-IR" b="0" i="0" dirty="0">
                <a:solidFill>
                  <a:schemeClr val="tx1"/>
                </a:solidFill>
                <a:effectLst/>
                <a:latin typeface="-apple-system"/>
                <a:cs typeface="B Nazanin" panose="00000400000000000000" pitchFamily="2" charset="-78"/>
              </a:rPr>
              <a:t> شود و روی سرور لینوکس اجرا شود.</a:t>
            </a:r>
          </a:p>
          <a:p>
            <a:pPr algn="just" rtl="1"/>
            <a:endParaRPr lang="en-US" dirty="0">
              <a:solidFill>
                <a:schemeClr val="tx1"/>
              </a:solidFill>
              <a:cs typeface="B Nazanin" panose="00000400000000000000" pitchFamily="2" charset="-78"/>
            </a:endParaRPr>
          </a:p>
        </p:txBody>
      </p:sp>
      <p:sp>
        <p:nvSpPr>
          <p:cNvPr id="5" name="Rectangle 4">
            <a:extLst>
              <a:ext uri="{FF2B5EF4-FFF2-40B4-BE49-F238E27FC236}">
                <a16:creationId xmlns:a16="http://schemas.microsoft.com/office/drawing/2014/main" id="{B68C0932-349B-4D82-A1C6-CF20F89F2073}"/>
              </a:ext>
            </a:extLst>
          </p:cNvPr>
          <p:cNvSpPr/>
          <p:nvPr/>
        </p:nvSpPr>
        <p:spPr>
          <a:xfrm>
            <a:off x="855345" y="717178"/>
            <a:ext cx="9032726" cy="503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7CCAF17-9BE2-48AA-92A5-763CF7978584}"/>
              </a:ext>
            </a:extLst>
          </p:cNvPr>
          <p:cNvSpPr txBox="1"/>
          <p:nvPr/>
        </p:nvSpPr>
        <p:spPr>
          <a:xfrm>
            <a:off x="401787" y="762112"/>
            <a:ext cx="9486283" cy="369332"/>
          </a:xfrm>
          <a:prstGeom prst="rect">
            <a:avLst/>
          </a:prstGeom>
          <a:noFill/>
        </p:spPr>
        <p:txBody>
          <a:bodyPr wrap="square" rtlCol="0">
            <a:spAutoFit/>
          </a:bodyPr>
          <a:lstStyle/>
          <a:p>
            <a:r>
              <a:rPr lang="fa-IR" dirty="0">
                <a:ln w="0"/>
                <a:solidFill>
                  <a:schemeClr val="bg1"/>
                </a:solidFill>
                <a:effectLst>
                  <a:outerShdw blurRad="38100" dist="19050" dir="2700000" algn="tl" rotWithShape="0">
                    <a:schemeClr val="dk1">
                      <a:alpha val="40000"/>
                    </a:schemeClr>
                  </a:outerShdw>
                </a:effectLst>
                <a:cs typeface="B Nazanin" panose="00000400000000000000" pitchFamily="2" charset="-78"/>
              </a:rPr>
              <a:t>کل این پروژه ، از طراحی لوگو، کلیه داکیومنتها، کل کدها و حتی متون همین معرفی که میبینید توسط هوش مصنوعی ایجاد شده اند</a:t>
            </a:r>
            <a:endParaRPr lang="en-US" dirty="0">
              <a:ln w="0"/>
              <a:solidFill>
                <a:schemeClr val="bg1"/>
              </a:solidFill>
              <a:effectLst>
                <a:outerShdw blurRad="38100" dist="19050" dir="2700000" algn="tl" rotWithShape="0">
                  <a:schemeClr val="dk1">
                    <a:alpha val="40000"/>
                  </a:schemeClr>
                </a:outerShdw>
              </a:effectLst>
              <a:cs typeface="B Nazanin" panose="00000400000000000000" pitchFamily="2" charset="-78"/>
            </a:endParaRPr>
          </a:p>
        </p:txBody>
      </p:sp>
    </p:spTree>
    <p:extLst>
      <p:ext uri="{BB962C8B-B14F-4D97-AF65-F5344CB8AC3E}">
        <p14:creationId xmlns:p14="http://schemas.microsoft.com/office/powerpoint/2010/main" val="1199063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77A-F9CF-424F-84AA-D8C843F1B4C4}"/>
              </a:ext>
            </a:extLst>
          </p:cNvPr>
          <p:cNvSpPr>
            <a:spLocks noGrp="1"/>
          </p:cNvSpPr>
          <p:nvPr>
            <p:ph type="title"/>
          </p:nvPr>
        </p:nvSpPr>
        <p:spPr/>
        <p:txBody>
          <a:bodyPr/>
          <a:lstStyle/>
          <a:p>
            <a:pPr algn="r"/>
            <a:r>
              <a:rPr lang="fa-IR" b="1" i="0" dirty="0">
                <a:solidFill>
                  <a:schemeClr val="accent1"/>
                </a:solidFill>
                <a:effectLst/>
                <a:latin typeface="-apple-system"/>
                <a:cs typeface="B Nazanin" panose="00000400000000000000" pitchFamily="2" charset="-78"/>
              </a:rPr>
              <a:t>وضعیت فعلی پروژه </a:t>
            </a:r>
            <a:br>
              <a:rPr lang="fa-IR" b="1" i="0" dirty="0">
                <a:solidFill>
                  <a:schemeClr val="accent1"/>
                </a:solidFill>
                <a:effectLst/>
                <a:latin typeface="-apple-system"/>
                <a:cs typeface="B Nazanin" panose="00000400000000000000" pitchFamily="2" charset="-78"/>
              </a:rPr>
            </a:br>
            <a:endParaRPr lang="en-US" dirty="0">
              <a:solidFill>
                <a:schemeClr val="accent1"/>
              </a:solidFill>
              <a:cs typeface="B Nazanin" panose="00000400000000000000" pitchFamily="2" charset="-78"/>
            </a:endParaRPr>
          </a:p>
        </p:txBody>
      </p:sp>
      <p:sp>
        <p:nvSpPr>
          <p:cNvPr id="3" name="Content Placeholder 2">
            <a:extLst>
              <a:ext uri="{FF2B5EF4-FFF2-40B4-BE49-F238E27FC236}">
                <a16:creationId xmlns:a16="http://schemas.microsoft.com/office/drawing/2014/main" id="{0619F152-B119-4B23-9A5D-EB233158E6F0}"/>
              </a:ext>
            </a:extLst>
          </p:cNvPr>
          <p:cNvSpPr>
            <a:spLocks noGrp="1"/>
          </p:cNvSpPr>
          <p:nvPr>
            <p:ph idx="1"/>
          </p:nvPr>
        </p:nvSpPr>
        <p:spPr/>
        <p:txBody>
          <a:bodyPr>
            <a:normAutofit/>
          </a:bodyPr>
          <a:lstStyle/>
          <a:p>
            <a:pPr algn="just" rtl="1"/>
            <a:r>
              <a:rPr lang="fa-IR" b="0" i="0" dirty="0">
                <a:solidFill>
                  <a:schemeClr val="tx1"/>
                </a:solidFill>
                <a:effectLst/>
                <a:latin typeface="-apple-system"/>
                <a:cs typeface="B Nazanin" panose="00000400000000000000" pitchFamily="2" charset="-78"/>
              </a:rPr>
              <a:t>اجرای روزانه با </a:t>
            </a:r>
            <a:r>
              <a:rPr lang="en-US" b="0" i="0" dirty="0" err="1">
                <a:solidFill>
                  <a:schemeClr val="tx1"/>
                </a:solidFill>
                <a:effectLst/>
                <a:latin typeface="-apple-system"/>
                <a:cs typeface="B Nazanin" panose="00000400000000000000" pitchFamily="2" charset="-78"/>
              </a:rPr>
              <a:t>SchedulerAgent</a:t>
            </a:r>
            <a:r>
              <a:rPr lang="en-US" b="0" i="0" dirty="0">
                <a:solidFill>
                  <a:schemeClr val="tx1"/>
                </a:solidFill>
                <a:effectLst/>
                <a:latin typeface="-apple-system"/>
                <a:cs typeface="B Nazanin" panose="00000400000000000000" pitchFamily="2" charset="-78"/>
              </a:rPr>
              <a:t> </a:t>
            </a:r>
            <a:r>
              <a:rPr lang="fa-IR" b="0" i="0" dirty="0">
                <a:solidFill>
                  <a:schemeClr val="tx1"/>
                </a:solidFill>
                <a:effectLst/>
                <a:latin typeface="-apple-system"/>
                <a:cs typeface="B Nazanin" panose="00000400000000000000" pitchFamily="2" charset="-78"/>
              </a:rPr>
              <a:t>و قابلیت اجرای دستی با </a:t>
            </a:r>
            <a:r>
              <a:rPr lang="en-US" b="0" i="0" dirty="0">
                <a:solidFill>
                  <a:schemeClr val="tx1"/>
                </a:solidFill>
                <a:effectLst/>
                <a:latin typeface="-apple-system"/>
                <a:cs typeface="B Nazanin" panose="00000400000000000000" pitchFamily="2" charset="-78"/>
              </a:rPr>
              <a:t>run-once</a:t>
            </a:r>
          </a:p>
          <a:p>
            <a:pPr algn="just" rtl="1"/>
            <a:r>
              <a:rPr lang="fa-IR" b="0" i="0" dirty="0">
                <a:solidFill>
                  <a:schemeClr val="tx1"/>
                </a:solidFill>
                <a:effectLst/>
                <a:latin typeface="-apple-system"/>
                <a:cs typeface="B Nazanin" panose="00000400000000000000" pitchFamily="2" charset="-78"/>
              </a:rPr>
              <a:t>تولید مقاله با </a:t>
            </a:r>
            <a:r>
              <a:rPr lang="en-US" b="0" i="0" dirty="0">
                <a:solidFill>
                  <a:schemeClr val="tx1"/>
                </a:solidFill>
                <a:effectLst/>
                <a:latin typeface="-apple-system"/>
                <a:cs typeface="B Nazanin" panose="00000400000000000000" pitchFamily="2" charset="-78"/>
              </a:rPr>
              <a:t>Provider</a:t>
            </a:r>
            <a:r>
              <a:rPr lang="fa-IR" b="0" i="0" dirty="0">
                <a:solidFill>
                  <a:schemeClr val="tx1"/>
                </a:solidFill>
                <a:effectLst/>
                <a:latin typeface="-apple-system"/>
                <a:cs typeface="B Nazanin" panose="00000400000000000000" pitchFamily="2" charset="-78"/>
              </a:rPr>
              <a:t>های </a:t>
            </a:r>
            <a:r>
              <a:rPr lang="en-US" b="0" i="0" dirty="0" err="1">
                <a:solidFill>
                  <a:schemeClr val="tx1"/>
                </a:solidFill>
                <a:effectLst/>
                <a:latin typeface="-apple-system"/>
                <a:cs typeface="B Nazanin" panose="00000400000000000000" pitchFamily="2" charset="-78"/>
              </a:rPr>
              <a:t>OpenAI</a:t>
            </a:r>
            <a:r>
              <a:rPr lang="en-US" b="0" i="0" dirty="0">
                <a:solidFill>
                  <a:schemeClr val="tx1"/>
                </a:solidFill>
                <a:effectLst/>
                <a:latin typeface="-apple-system"/>
                <a:cs typeface="B Nazanin" panose="00000400000000000000" pitchFamily="2" charset="-78"/>
              </a:rPr>
              <a:t>، </a:t>
            </a:r>
            <a:r>
              <a:rPr lang="en-US" b="0" i="0" dirty="0" err="1">
                <a:solidFill>
                  <a:schemeClr val="tx1"/>
                </a:solidFill>
                <a:effectLst/>
                <a:latin typeface="-apple-system"/>
                <a:cs typeface="B Nazanin" panose="00000400000000000000" pitchFamily="2" charset="-78"/>
              </a:rPr>
              <a:t>Groq</a:t>
            </a:r>
            <a:r>
              <a:rPr lang="en-US" b="0" i="0" dirty="0">
                <a:solidFill>
                  <a:schemeClr val="tx1"/>
                </a:solidFill>
                <a:effectLst/>
                <a:latin typeface="-apple-system"/>
                <a:cs typeface="B Nazanin" panose="00000400000000000000" pitchFamily="2" charset="-78"/>
              </a:rPr>
              <a:t> </a:t>
            </a:r>
            <a:r>
              <a:rPr lang="fa-IR" b="0" i="0" dirty="0">
                <a:solidFill>
                  <a:schemeClr val="tx1"/>
                </a:solidFill>
                <a:effectLst/>
                <a:latin typeface="-apple-system"/>
                <a:cs typeface="B Nazanin" panose="00000400000000000000" pitchFamily="2" charset="-78"/>
              </a:rPr>
              <a:t>یا </a:t>
            </a:r>
            <a:r>
              <a:rPr lang="en-US" b="0" i="0" dirty="0">
                <a:solidFill>
                  <a:schemeClr val="tx1"/>
                </a:solidFill>
                <a:effectLst/>
                <a:latin typeface="-apple-system"/>
                <a:cs typeface="B Nazanin" panose="00000400000000000000" pitchFamily="2" charset="-78"/>
              </a:rPr>
              <a:t>Fixture</a:t>
            </a:r>
          </a:p>
          <a:p>
            <a:pPr algn="just" rtl="1"/>
            <a:r>
              <a:rPr lang="fa-IR" b="0" i="0" dirty="0">
                <a:solidFill>
                  <a:schemeClr val="tx1"/>
                </a:solidFill>
                <a:effectLst/>
                <a:latin typeface="-apple-system"/>
                <a:cs typeface="B Nazanin" panose="00000400000000000000" pitchFamily="2" charset="-78"/>
              </a:rPr>
              <a:t>پیدا کردن یا تولید تصویر شاخص با </a:t>
            </a:r>
            <a:r>
              <a:rPr lang="en-US" b="0" i="0" dirty="0" err="1">
                <a:solidFill>
                  <a:schemeClr val="tx1"/>
                </a:solidFill>
                <a:effectLst/>
                <a:latin typeface="-apple-system"/>
                <a:cs typeface="B Nazanin" panose="00000400000000000000" pitchFamily="2" charset="-78"/>
              </a:rPr>
              <a:t>SourcePageImages</a:t>
            </a:r>
            <a:r>
              <a:rPr lang="en-US" b="0" i="0" dirty="0">
                <a:solidFill>
                  <a:schemeClr val="tx1"/>
                </a:solidFill>
                <a:effectLst/>
                <a:latin typeface="-apple-system"/>
                <a:cs typeface="B Nazanin" panose="00000400000000000000" pitchFamily="2" charset="-78"/>
              </a:rPr>
              <a:t>، </a:t>
            </a:r>
            <a:r>
              <a:rPr lang="en-US" b="0" i="0" dirty="0" err="1">
                <a:solidFill>
                  <a:schemeClr val="tx1"/>
                </a:solidFill>
                <a:effectLst/>
                <a:latin typeface="-apple-system"/>
                <a:cs typeface="B Nazanin" panose="00000400000000000000" pitchFamily="2" charset="-78"/>
              </a:rPr>
              <a:t>OpenAI</a:t>
            </a:r>
            <a:r>
              <a:rPr lang="en-US" b="0" i="0" dirty="0">
                <a:solidFill>
                  <a:schemeClr val="tx1"/>
                </a:solidFill>
                <a:effectLst/>
                <a:latin typeface="-apple-system"/>
                <a:cs typeface="B Nazanin" panose="00000400000000000000" pitchFamily="2" charset="-78"/>
              </a:rPr>
              <a:t>، Pollinations </a:t>
            </a:r>
            <a:r>
              <a:rPr lang="fa-IR" b="0" i="0" dirty="0">
                <a:solidFill>
                  <a:schemeClr val="tx1"/>
                </a:solidFill>
                <a:effectLst/>
                <a:latin typeface="-apple-system"/>
                <a:cs typeface="B Nazanin" panose="00000400000000000000" pitchFamily="2" charset="-78"/>
              </a:rPr>
              <a:t>یا </a:t>
            </a:r>
            <a:r>
              <a:rPr lang="en-US" b="0" i="0" dirty="0">
                <a:solidFill>
                  <a:schemeClr val="tx1"/>
                </a:solidFill>
                <a:effectLst/>
                <a:latin typeface="-apple-system"/>
                <a:cs typeface="B Nazanin" panose="00000400000000000000" pitchFamily="2" charset="-78"/>
              </a:rPr>
              <a:t>Fixture</a:t>
            </a:r>
          </a:p>
          <a:p>
            <a:pPr algn="just" rtl="1"/>
            <a:r>
              <a:rPr lang="fa-IR" b="0" i="0" dirty="0">
                <a:solidFill>
                  <a:schemeClr val="tx1"/>
                </a:solidFill>
                <a:effectLst/>
                <a:latin typeface="-apple-system"/>
                <a:cs typeface="B Nazanin" panose="00000400000000000000" pitchFamily="2" charset="-78"/>
              </a:rPr>
              <a:t>امکان غیرفعال‌کردن تصویر با </a:t>
            </a:r>
            <a:r>
              <a:rPr lang="en-US" b="0" i="0" dirty="0" err="1">
                <a:solidFill>
                  <a:schemeClr val="tx1"/>
                </a:solidFill>
                <a:effectLst/>
                <a:latin typeface="-apple-system"/>
                <a:cs typeface="B Nazanin" panose="00000400000000000000" pitchFamily="2" charset="-78"/>
              </a:rPr>
              <a:t>ImageProvider</a:t>
            </a:r>
            <a:r>
              <a:rPr lang="en-US" b="0" i="0" dirty="0">
                <a:solidFill>
                  <a:schemeClr val="tx1"/>
                </a:solidFill>
                <a:effectLst/>
                <a:latin typeface="-apple-system"/>
                <a:cs typeface="B Nazanin" panose="00000400000000000000" pitchFamily="2" charset="-78"/>
              </a:rPr>
              <a:t>: None</a:t>
            </a:r>
          </a:p>
          <a:p>
            <a:pPr algn="just" rtl="1"/>
            <a:r>
              <a:rPr lang="fa-IR" b="0" i="0" dirty="0">
                <a:solidFill>
                  <a:schemeClr val="tx1"/>
                </a:solidFill>
                <a:effectLst/>
                <a:latin typeface="-apple-system"/>
                <a:cs typeface="B Nazanin" panose="00000400000000000000" pitchFamily="2" charset="-78"/>
              </a:rPr>
              <a:t>انتشار مقاله در وردپرس با دسته‌بندی قابل تنظیم، تصویر شاخص، </a:t>
            </a:r>
            <a:r>
              <a:rPr lang="en-US" b="0" i="0" dirty="0">
                <a:solidFill>
                  <a:schemeClr val="tx1"/>
                </a:solidFill>
                <a:effectLst/>
                <a:latin typeface="-apple-system"/>
                <a:cs typeface="B Nazanin" panose="00000400000000000000" pitchFamily="2" charset="-78"/>
              </a:rPr>
              <a:t>excerpt </a:t>
            </a:r>
            <a:r>
              <a:rPr lang="fa-IR" b="0" i="0" dirty="0">
                <a:solidFill>
                  <a:schemeClr val="tx1"/>
                </a:solidFill>
                <a:effectLst/>
                <a:latin typeface="-apple-system"/>
                <a:cs typeface="B Nazanin" panose="00000400000000000000" pitchFamily="2" charset="-78"/>
              </a:rPr>
              <a:t>و لینک‌های داخلی</a:t>
            </a:r>
          </a:p>
          <a:p>
            <a:pPr algn="just" rtl="1"/>
            <a:r>
              <a:rPr lang="fa-IR" b="0" i="0" dirty="0">
                <a:solidFill>
                  <a:schemeClr val="tx1"/>
                </a:solidFill>
                <a:effectLst/>
                <a:latin typeface="-apple-system"/>
                <a:cs typeface="B Nazanin" panose="00000400000000000000" pitchFamily="2" charset="-78"/>
              </a:rPr>
              <a:t>انتشار خلاصه و لینک مطلب در تلگرام، همراه تصویر در صورت وجود</a:t>
            </a:r>
          </a:p>
          <a:p>
            <a:pPr algn="just" rtl="1"/>
            <a:r>
              <a:rPr lang="fa-IR" b="0" i="0" dirty="0">
                <a:solidFill>
                  <a:schemeClr val="tx1"/>
                </a:solidFill>
                <a:effectLst/>
                <a:latin typeface="-apple-system"/>
                <a:cs typeface="B Nazanin" panose="00000400000000000000" pitchFamily="2" charset="-78"/>
              </a:rPr>
              <a:t>انتشار پست تک‌تصویری در اینستاگرام وقتی تصویر عمومی از وردپرس در دسترس باشد</a:t>
            </a:r>
          </a:p>
          <a:p>
            <a:pPr algn="just" rtl="1"/>
            <a:r>
              <a:rPr lang="fa-IR" b="0" i="0" dirty="0">
                <a:solidFill>
                  <a:schemeClr val="tx1"/>
                </a:solidFill>
                <a:effectLst/>
                <a:latin typeface="-apple-system"/>
                <a:cs typeface="B Nazanin" panose="00000400000000000000" pitchFamily="2" charset="-78"/>
              </a:rPr>
              <a:t>تست لوکال با </a:t>
            </a:r>
            <a:r>
              <a:rPr lang="en-US" b="0" i="0" dirty="0">
                <a:solidFill>
                  <a:schemeClr val="tx1"/>
                </a:solidFill>
                <a:effectLst/>
                <a:latin typeface="-apple-system"/>
                <a:cs typeface="B Nazanin" panose="00000400000000000000" pitchFamily="2" charset="-78"/>
              </a:rPr>
              <a:t>fixture </a:t>
            </a:r>
            <a:r>
              <a:rPr lang="fa-IR" b="0" i="0" dirty="0">
                <a:solidFill>
                  <a:schemeClr val="tx1"/>
                </a:solidFill>
                <a:effectLst/>
                <a:latin typeface="-apple-system"/>
                <a:cs typeface="B Nazanin" panose="00000400000000000000" pitchFamily="2" charset="-78"/>
              </a:rPr>
              <a:t>بدون نیاز به اکانت </a:t>
            </a:r>
            <a:r>
              <a:rPr lang="en-US" b="0" i="0" dirty="0">
                <a:solidFill>
                  <a:schemeClr val="tx1"/>
                </a:solidFill>
                <a:effectLst/>
                <a:latin typeface="-apple-system"/>
                <a:cs typeface="B Nazanin" panose="00000400000000000000" pitchFamily="2" charset="-78"/>
              </a:rPr>
              <a:t>LLM</a:t>
            </a:r>
          </a:p>
          <a:p>
            <a:pPr algn="just" rtl="1"/>
            <a:r>
              <a:rPr lang="fa-IR" b="0" i="0" dirty="0">
                <a:solidFill>
                  <a:schemeClr val="tx1"/>
                </a:solidFill>
                <a:effectLst/>
                <a:latin typeface="-apple-system"/>
                <a:cs typeface="B Nazanin" panose="00000400000000000000" pitchFamily="2" charset="-78"/>
              </a:rPr>
              <a:t>استقرار با </a:t>
            </a:r>
            <a:r>
              <a:rPr lang="en-US" b="0" i="0" dirty="0">
                <a:solidFill>
                  <a:schemeClr val="tx1"/>
                </a:solidFill>
                <a:effectLst/>
                <a:latin typeface="-apple-system"/>
                <a:cs typeface="B Nazanin" panose="00000400000000000000" pitchFamily="2" charset="-78"/>
              </a:rPr>
              <a:t>Docker Compose </a:t>
            </a:r>
            <a:r>
              <a:rPr lang="fa-IR" b="0" i="0" dirty="0">
                <a:solidFill>
                  <a:schemeClr val="tx1"/>
                </a:solidFill>
                <a:effectLst/>
                <a:latin typeface="-apple-system"/>
                <a:cs typeface="B Nazanin" panose="00000400000000000000" pitchFamily="2" charset="-78"/>
              </a:rPr>
              <a:t>روی سرور لینوکس</a:t>
            </a:r>
          </a:p>
          <a:p>
            <a:pPr algn="just" rtl="1"/>
            <a:endParaRPr lang="fa-IR" b="0" i="0" dirty="0">
              <a:solidFill>
                <a:schemeClr val="tx1"/>
              </a:solidFill>
              <a:effectLst/>
              <a:latin typeface="-apple-system"/>
              <a:cs typeface="B Nazanin" panose="00000400000000000000" pitchFamily="2" charset="-78"/>
            </a:endParaRPr>
          </a:p>
        </p:txBody>
      </p:sp>
      <p:sp>
        <p:nvSpPr>
          <p:cNvPr id="4" name="TextBox 3">
            <a:extLst>
              <a:ext uri="{FF2B5EF4-FFF2-40B4-BE49-F238E27FC236}">
                <a16:creationId xmlns:a16="http://schemas.microsoft.com/office/drawing/2014/main" id="{6C93CE7F-C5BC-436B-850A-70561426A189}"/>
              </a:ext>
            </a:extLst>
          </p:cNvPr>
          <p:cNvSpPr txBox="1"/>
          <p:nvPr/>
        </p:nvSpPr>
        <p:spPr>
          <a:xfrm>
            <a:off x="243840" y="751840"/>
            <a:ext cx="528320" cy="369332"/>
          </a:xfrm>
          <a:prstGeom prst="rect">
            <a:avLst/>
          </a:prstGeom>
          <a:noFill/>
        </p:spPr>
        <p:txBody>
          <a:bodyPr wrap="square" rtlCol="0">
            <a:spAutoFit/>
          </a:bodyPr>
          <a:lstStyle/>
          <a:p>
            <a:pPr algn="r" rtl="1"/>
            <a:r>
              <a:rPr lang="en-US" dirty="0">
                <a:solidFill>
                  <a:schemeClr val="bg1"/>
                </a:solidFill>
                <a:cs typeface="B Nazanin" panose="00000400000000000000" pitchFamily="2" charset="-78"/>
              </a:rPr>
              <a:t>3</a:t>
            </a:r>
          </a:p>
        </p:txBody>
      </p:sp>
    </p:spTree>
    <p:extLst>
      <p:ext uri="{BB962C8B-B14F-4D97-AF65-F5344CB8AC3E}">
        <p14:creationId xmlns:p14="http://schemas.microsoft.com/office/powerpoint/2010/main" val="1548641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77A-F9CF-424F-84AA-D8C843F1B4C4}"/>
              </a:ext>
            </a:extLst>
          </p:cNvPr>
          <p:cNvSpPr>
            <a:spLocks noGrp="1"/>
          </p:cNvSpPr>
          <p:nvPr>
            <p:ph type="title"/>
          </p:nvPr>
        </p:nvSpPr>
        <p:spPr/>
        <p:txBody>
          <a:bodyPr/>
          <a:lstStyle/>
          <a:p>
            <a:pPr algn="r"/>
            <a:r>
              <a:rPr lang="fa-IR" b="1" i="0" dirty="0">
                <a:solidFill>
                  <a:schemeClr val="accent1"/>
                </a:solidFill>
                <a:effectLst/>
                <a:latin typeface="-apple-system"/>
                <a:cs typeface="B Nazanin" panose="00000400000000000000" pitchFamily="2" charset="-78"/>
              </a:rPr>
              <a:t>یه کم از آخرش رو اول میگم</a:t>
            </a:r>
            <a:endParaRPr lang="en-US" dirty="0">
              <a:solidFill>
                <a:schemeClr val="accent1"/>
              </a:solidFill>
              <a:cs typeface="B Nazanin" panose="00000400000000000000" pitchFamily="2" charset="-78"/>
            </a:endParaRPr>
          </a:p>
        </p:txBody>
      </p:sp>
      <p:sp>
        <p:nvSpPr>
          <p:cNvPr id="3" name="Content Placeholder 2">
            <a:extLst>
              <a:ext uri="{FF2B5EF4-FFF2-40B4-BE49-F238E27FC236}">
                <a16:creationId xmlns:a16="http://schemas.microsoft.com/office/drawing/2014/main" id="{0619F152-B119-4B23-9A5D-EB233158E6F0}"/>
              </a:ext>
            </a:extLst>
          </p:cNvPr>
          <p:cNvSpPr>
            <a:spLocks noGrp="1"/>
          </p:cNvSpPr>
          <p:nvPr>
            <p:ph idx="1"/>
          </p:nvPr>
        </p:nvSpPr>
        <p:spPr/>
        <p:txBody>
          <a:bodyPr>
            <a:normAutofit/>
          </a:bodyPr>
          <a:lstStyle/>
          <a:p>
            <a:pPr algn="just" rtl="1"/>
            <a:r>
              <a:rPr lang="fa-IR" sz="2400" b="0" i="0" dirty="0">
                <a:solidFill>
                  <a:schemeClr val="tx1"/>
                </a:solidFill>
                <a:effectLst/>
                <a:latin typeface="-apple-system"/>
                <a:cs typeface="B Nazanin" panose="00000400000000000000" pitchFamily="2" charset="-78"/>
              </a:rPr>
              <a:t>این فرمانی بود که آخرای پروژه برای تکمیل این داکیومنت اجرا شد که نکات مهمی رو در برمیگیرد</a:t>
            </a:r>
          </a:p>
          <a:p>
            <a:pPr algn="just" rtl="1"/>
            <a:endParaRPr lang="fa-IR" sz="2400" dirty="0">
              <a:solidFill>
                <a:schemeClr val="tx1"/>
              </a:solidFill>
              <a:latin typeface="-apple-system"/>
              <a:cs typeface="B Nazanin" panose="00000400000000000000" pitchFamily="2" charset="-78"/>
            </a:endParaRPr>
          </a:p>
          <a:p>
            <a:pPr algn="just" rtl="1"/>
            <a:endParaRPr lang="fa-IR" sz="2400" b="0" i="0" dirty="0">
              <a:solidFill>
                <a:schemeClr val="tx1"/>
              </a:solidFill>
              <a:effectLst/>
              <a:latin typeface="-apple-system"/>
              <a:cs typeface="B Nazanin" panose="00000400000000000000" pitchFamily="2" charset="-78"/>
            </a:endParaRPr>
          </a:p>
          <a:p>
            <a:pPr algn="just" rtl="1"/>
            <a:r>
              <a:rPr lang="fa-IR" sz="2400" b="0" i="0" dirty="0">
                <a:solidFill>
                  <a:schemeClr val="tx1"/>
                </a:solidFill>
                <a:effectLst/>
                <a:latin typeface="-apple-system"/>
                <a:cs typeface="B Nazanin" panose="00000400000000000000" pitchFamily="2" charset="-78"/>
              </a:rPr>
              <a:t>میخوام یک تحلیل روی فرمانهایی که من برای ساخت این پروژه دادم از روی فایل</a:t>
            </a:r>
            <a:br>
              <a:rPr lang="en-US" sz="2400" b="0" i="0" dirty="0">
                <a:solidFill>
                  <a:schemeClr val="tx1"/>
                </a:solidFill>
                <a:effectLst/>
                <a:latin typeface="-apple-system"/>
                <a:cs typeface="B Nazanin" panose="00000400000000000000" pitchFamily="2" charset="-78"/>
              </a:rPr>
            </a:br>
            <a:r>
              <a:rPr lang="fa-IR" sz="2400" b="0" i="0" dirty="0">
                <a:solidFill>
                  <a:schemeClr val="tx1"/>
                </a:solidFill>
                <a:effectLst/>
                <a:latin typeface="-apple-system"/>
                <a:cs typeface="B Nazanin" panose="00000400000000000000" pitchFamily="2" charset="-78"/>
              </a:rPr>
              <a:t> </a:t>
            </a:r>
            <a:r>
              <a:rPr lang="en-US" sz="2400" b="0" i="0" dirty="0">
                <a:solidFill>
                  <a:schemeClr val="tx1"/>
                </a:solidFill>
                <a:effectLst/>
                <a:latin typeface="-apple-system"/>
                <a:cs typeface="B Nazanin" panose="00000400000000000000" pitchFamily="2" charset="-78"/>
              </a:rPr>
              <a:t>project-journey-presentation-fa</a:t>
            </a:r>
            <a:r>
              <a:rPr lang="fa-IR" sz="2400" b="0" i="0" dirty="0">
                <a:solidFill>
                  <a:schemeClr val="tx1"/>
                </a:solidFill>
                <a:effectLst/>
                <a:latin typeface="-apple-system"/>
                <a:cs typeface="B Nazanin" panose="00000400000000000000" pitchFamily="2" charset="-78"/>
              </a:rPr>
              <a:t> </a:t>
            </a:r>
            <a:r>
              <a:rPr lang="en-US" sz="2400" b="0" i="0" dirty="0">
                <a:solidFill>
                  <a:schemeClr val="tx1"/>
                </a:solidFill>
                <a:effectLst/>
                <a:latin typeface="-apple-system"/>
                <a:cs typeface="B Nazanin" panose="00000400000000000000" pitchFamily="2" charset="-78"/>
              </a:rPr>
              <a:t>   </a:t>
            </a:r>
            <a:r>
              <a:rPr lang="fa-IR" sz="2400" b="0" i="0" dirty="0">
                <a:solidFill>
                  <a:schemeClr val="tx1"/>
                </a:solidFill>
                <a:effectLst/>
                <a:latin typeface="-apple-system"/>
                <a:cs typeface="B Nazanin" panose="00000400000000000000" pitchFamily="2" charset="-78"/>
              </a:rPr>
              <a:t>بدون خواندن کل فرمانها از هیستوری و  </a:t>
            </a:r>
            <a:r>
              <a:rPr lang="en-US" sz="2400" b="0" i="0" dirty="0">
                <a:solidFill>
                  <a:schemeClr val="tx1"/>
                </a:solidFill>
                <a:effectLst/>
                <a:latin typeface="-apple-system"/>
                <a:cs typeface="B Nazanin" panose="00000400000000000000" pitchFamily="2" charset="-78"/>
              </a:rPr>
              <a:t>commit</a:t>
            </a:r>
            <a:r>
              <a:rPr lang="fa-IR" sz="2400" b="0" i="0" dirty="0">
                <a:solidFill>
                  <a:schemeClr val="tx1"/>
                </a:solidFill>
                <a:effectLst/>
                <a:latin typeface="-apple-system"/>
                <a:cs typeface="B Nazanin" panose="00000400000000000000" pitchFamily="2" charset="-78"/>
              </a:rPr>
              <a:t>  </a:t>
            </a:r>
            <a:r>
              <a:rPr lang="en-US" sz="2400" b="0" i="0" dirty="0">
                <a:solidFill>
                  <a:schemeClr val="tx1"/>
                </a:solidFill>
                <a:effectLst/>
                <a:latin typeface="-apple-system"/>
                <a:cs typeface="B Nazanin" panose="00000400000000000000" pitchFamily="2" charset="-78"/>
              </a:rPr>
              <a:t> </a:t>
            </a:r>
            <a:r>
              <a:rPr lang="fa-IR" sz="2400" b="0" i="0" dirty="0">
                <a:solidFill>
                  <a:schemeClr val="tx1"/>
                </a:solidFill>
                <a:effectLst/>
                <a:latin typeface="-apple-system"/>
                <a:cs typeface="B Nazanin" panose="00000400000000000000" pitchFamily="2" charset="-78"/>
              </a:rPr>
              <a:t> </a:t>
            </a:r>
            <a:r>
              <a:rPr lang="en-US" sz="2400" b="0" i="0" dirty="0">
                <a:solidFill>
                  <a:schemeClr val="tx1"/>
                </a:solidFill>
                <a:effectLst/>
                <a:latin typeface="-apple-system"/>
                <a:cs typeface="B Nazanin" panose="00000400000000000000" pitchFamily="2" charset="-78"/>
              </a:rPr>
              <a:t>,.. </a:t>
            </a:r>
            <a:r>
              <a:rPr lang="fa-IR" sz="2400" b="0" i="0" dirty="0">
                <a:solidFill>
                  <a:schemeClr val="tx1"/>
                </a:solidFill>
                <a:effectLst/>
                <a:latin typeface="-apple-system"/>
                <a:cs typeface="B Nazanin" panose="00000400000000000000" pitchFamily="2" charset="-78"/>
              </a:rPr>
              <a:t>انجام بدی و نقاط قوت و ضعف فرمانهایی که منجر به طراحی معماری حرفه ای و جلوگیری از بروز خطاهای آینده و رسیدن به نتیجه مناسسب بودند رو استخراج کنی و به مقدمه همین فایل اضافه کنی. مُجازی از من تعریف کنی و خوب بگی :)</a:t>
            </a:r>
          </a:p>
        </p:txBody>
      </p:sp>
      <p:sp>
        <p:nvSpPr>
          <p:cNvPr id="4" name="TextBox 3">
            <a:extLst>
              <a:ext uri="{FF2B5EF4-FFF2-40B4-BE49-F238E27FC236}">
                <a16:creationId xmlns:a16="http://schemas.microsoft.com/office/drawing/2014/main" id="{527E7C9C-56F3-4625-B8F3-C7FFEE5DB49C}"/>
              </a:ext>
            </a:extLst>
          </p:cNvPr>
          <p:cNvSpPr txBox="1"/>
          <p:nvPr/>
        </p:nvSpPr>
        <p:spPr>
          <a:xfrm>
            <a:off x="243840" y="751840"/>
            <a:ext cx="528320" cy="369332"/>
          </a:xfrm>
          <a:prstGeom prst="rect">
            <a:avLst/>
          </a:prstGeom>
          <a:noFill/>
        </p:spPr>
        <p:txBody>
          <a:bodyPr wrap="square" rtlCol="0">
            <a:spAutoFit/>
          </a:bodyPr>
          <a:lstStyle/>
          <a:p>
            <a:pPr algn="r" rtl="1"/>
            <a:r>
              <a:rPr lang="en-US" dirty="0">
                <a:solidFill>
                  <a:schemeClr val="bg1"/>
                </a:solidFill>
                <a:cs typeface="B Nazanin" panose="00000400000000000000" pitchFamily="2" charset="-78"/>
              </a:rPr>
              <a:t>4</a:t>
            </a:r>
          </a:p>
        </p:txBody>
      </p:sp>
    </p:spTree>
    <p:extLst>
      <p:ext uri="{BB962C8B-B14F-4D97-AF65-F5344CB8AC3E}">
        <p14:creationId xmlns:p14="http://schemas.microsoft.com/office/powerpoint/2010/main" val="1783508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77A-F9CF-424F-84AA-D8C843F1B4C4}"/>
              </a:ext>
            </a:extLst>
          </p:cNvPr>
          <p:cNvSpPr>
            <a:spLocks noGrp="1"/>
          </p:cNvSpPr>
          <p:nvPr>
            <p:ph type="title"/>
          </p:nvPr>
        </p:nvSpPr>
        <p:spPr/>
        <p:txBody>
          <a:bodyPr/>
          <a:lstStyle/>
          <a:p>
            <a:pPr algn="r"/>
            <a:r>
              <a:rPr lang="fa-IR" b="1" i="0" dirty="0">
                <a:solidFill>
                  <a:schemeClr val="accent1"/>
                </a:solidFill>
                <a:effectLst/>
                <a:latin typeface="-apple-system"/>
                <a:cs typeface="B Nazanin" panose="00000400000000000000" pitchFamily="2" charset="-78"/>
              </a:rPr>
              <a:t>تحلیل سبک فرمان‌دهی </a:t>
            </a:r>
            <a:endParaRPr lang="en-US" dirty="0">
              <a:solidFill>
                <a:schemeClr val="accent1"/>
              </a:solidFill>
              <a:cs typeface="B Nazanin" panose="00000400000000000000" pitchFamily="2" charset="-78"/>
            </a:endParaRPr>
          </a:p>
        </p:txBody>
      </p:sp>
      <p:sp>
        <p:nvSpPr>
          <p:cNvPr id="3" name="Content Placeholder 2">
            <a:extLst>
              <a:ext uri="{FF2B5EF4-FFF2-40B4-BE49-F238E27FC236}">
                <a16:creationId xmlns:a16="http://schemas.microsoft.com/office/drawing/2014/main" id="{0619F152-B119-4B23-9A5D-EB233158E6F0}"/>
              </a:ext>
            </a:extLst>
          </p:cNvPr>
          <p:cNvSpPr>
            <a:spLocks noGrp="1"/>
          </p:cNvSpPr>
          <p:nvPr>
            <p:ph idx="1"/>
          </p:nvPr>
        </p:nvSpPr>
        <p:spPr/>
        <p:txBody>
          <a:bodyPr>
            <a:noAutofit/>
          </a:bodyPr>
          <a:lstStyle/>
          <a:p>
            <a:pPr algn="just" rtl="1"/>
            <a:r>
              <a:rPr lang="fa-IR" b="0" i="0" dirty="0">
                <a:solidFill>
                  <a:schemeClr val="tx1"/>
                </a:solidFill>
                <a:effectLst/>
                <a:latin typeface="-apple-system"/>
                <a:cs typeface="B Nazanin" panose="00000400000000000000" pitchFamily="2" charset="-78"/>
              </a:rPr>
              <a:t>یکی از نکات برجسته این پروژه این است که مسیر آن فقط با «درخواست ساخت فیچر» جلو نرفت؛ فرمان‌ها به‌تدریج معماری را شکل دادند. کاربر از همان ابتدا پروژه را با یک نگاه محصولی و اجرایی هدایت کرد: اول مستندات و </a:t>
            </a:r>
            <a:r>
              <a:rPr lang="en-US" b="0" i="0" dirty="0">
                <a:solidFill>
                  <a:schemeClr val="tx1"/>
                </a:solidFill>
                <a:effectLst/>
                <a:latin typeface="-apple-system"/>
                <a:cs typeface="B Nazanin" panose="00000400000000000000" pitchFamily="2" charset="-78"/>
              </a:rPr>
              <a:t>GitHub، </a:t>
            </a:r>
            <a:r>
              <a:rPr lang="fa-IR" b="0" i="0" dirty="0">
                <a:solidFill>
                  <a:schemeClr val="tx1"/>
                </a:solidFill>
                <a:effectLst/>
                <a:latin typeface="-apple-system"/>
                <a:cs typeface="B Nazanin" panose="00000400000000000000" pitchFamily="2" charset="-78"/>
              </a:rPr>
              <a:t>بعد </a:t>
            </a:r>
            <a:r>
              <a:rPr lang="en-US" b="0" i="0" dirty="0">
                <a:solidFill>
                  <a:schemeClr val="tx1"/>
                </a:solidFill>
                <a:effectLst/>
                <a:latin typeface="-apple-system"/>
                <a:cs typeface="B Nazanin" panose="00000400000000000000" pitchFamily="2" charset="-78"/>
              </a:rPr>
              <a:t>MVP </a:t>
            </a:r>
            <a:r>
              <a:rPr lang="fa-IR" b="0" i="0" dirty="0">
                <a:solidFill>
                  <a:schemeClr val="tx1"/>
                </a:solidFill>
                <a:effectLst/>
                <a:latin typeface="-apple-system"/>
                <a:cs typeface="B Nazanin" panose="00000400000000000000" pitchFamily="2" charset="-78"/>
              </a:rPr>
              <a:t>کوچک، بعد تست محلی، بعد انتشار واقعی، بعد مدیریت خطاها، بعد </a:t>
            </a:r>
            <a:r>
              <a:rPr lang="en-US" b="0" i="0" dirty="0">
                <a:solidFill>
                  <a:schemeClr val="tx1"/>
                </a:solidFill>
                <a:effectLst/>
                <a:latin typeface="-apple-system"/>
                <a:cs typeface="B Nazanin" panose="00000400000000000000" pitchFamily="2" charset="-78"/>
              </a:rPr>
              <a:t>Provider</a:t>
            </a:r>
            <a:r>
              <a:rPr lang="fa-IR" b="0" i="0" dirty="0">
                <a:solidFill>
                  <a:schemeClr val="tx1"/>
                </a:solidFill>
                <a:effectLst/>
                <a:latin typeface="-apple-system"/>
                <a:cs typeface="B Nazanin" panose="00000400000000000000" pitchFamily="2" charset="-78"/>
              </a:rPr>
              <a:t>ها، و در نهایت آماده‌سازی برای </a:t>
            </a:r>
            <a:r>
              <a:rPr lang="en-US" b="0" i="0" dirty="0">
                <a:solidFill>
                  <a:schemeClr val="tx1"/>
                </a:solidFill>
                <a:effectLst/>
                <a:latin typeface="-apple-system"/>
                <a:cs typeface="B Nazanin" panose="00000400000000000000" pitchFamily="2" charset="-78"/>
              </a:rPr>
              <a:t>production. </a:t>
            </a:r>
            <a:r>
              <a:rPr lang="fa-IR" b="0" i="0" dirty="0">
                <a:solidFill>
                  <a:schemeClr val="tx1"/>
                </a:solidFill>
                <a:effectLst/>
                <a:latin typeface="-apple-system"/>
                <a:cs typeface="B Nazanin" panose="00000400000000000000" pitchFamily="2" charset="-78"/>
              </a:rPr>
              <a:t>این ترتیب، بسیار حرفه‌ای بود؛ چون پروژه را از افتادن در دام طراحی بزرگ و دیررس نجات داد و سریع به خروجی قابل اجرا رساند.</a:t>
            </a:r>
          </a:p>
          <a:p>
            <a:pPr algn="just" rtl="1"/>
            <a:r>
              <a:rPr lang="fa-IR" b="0" i="0" dirty="0">
                <a:solidFill>
                  <a:schemeClr val="tx1"/>
                </a:solidFill>
                <a:effectLst/>
                <a:latin typeface="-apple-system"/>
                <a:cs typeface="B Nazanin" panose="00000400000000000000" pitchFamily="2" charset="-78"/>
              </a:rPr>
              <a:t>نقطه قوت مهم دیگر، تأکید مداوم روی حداقل نیاز واقعی بود. درخواست‌هایی مثل «دیتابیس لازم نداریم»، «لاک دیتابیسی مهم نیست»، «این نسخه اولیه است»، و «کد واقعی اما با حداقل نیازها» باعث شد </a:t>
            </a:r>
            <a:r>
              <a:rPr lang="en-US" b="0" i="0" dirty="0">
                <a:solidFill>
                  <a:schemeClr val="tx1"/>
                </a:solidFill>
                <a:effectLst/>
                <a:latin typeface="-apple-system"/>
                <a:cs typeface="B Nazanin" panose="00000400000000000000" pitchFamily="2" charset="-78"/>
              </a:rPr>
              <a:t>MVP </a:t>
            </a:r>
            <a:r>
              <a:rPr lang="fa-IR" b="0" i="0" dirty="0">
                <a:solidFill>
                  <a:schemeClr val="tx1"/>
                </a:solidFill>
                <a:effectLst/>
                <a:latin typeface="-apple-system"/>
                <a:cs typeface="B Nazanin" panose="00000400000000000000" pitchFamily="2" charset="-78"/>
              </a:rPr>
              <a:t>سبک بماند. این تصمیم‌ها از جنس تصمیم‌های یک مدیر فنی خوب هستند: اول ارزش واقعی را بساز، بعد پیچیدگی را فقط وقتی اضافه کن که مسئله‌اش واقعاً ظاهر شده باشد.</a:t>
            </a:r>
          </a:p>
          <a:p>
            <a:pPr algn="just" rtl="1"/>
            <a:r>
              <a:rPr lang="fa-IR" b="0" i="0" dirty="0">
                <a:solidFill>
                  <a:schemeClr val="tx1"/>
                </a:solidFill>
                <a:effectLst/>
                <a:latin typeface="-apple-system"/>
                <a:cs typeface="B Nazanin" panose="00000400000000000000" pitchFamily="2" charset="-78"/>
              </a:rPr>
              <a:t>در ادامه، فرمان‌ها به‌جای اینکه فقط ظاهر پروژه را کامل کنند، نقاط شکست آینده را زود آشکار کردند. درخواست اجرای دستی، </a:t>
            </a:r>
            <a:r>
              <a:rPr lang="en-US" b="0" i="0" dirty="0">
                <a:solidFill>
                  <a:schemeClr val="tx1"/>
                </a:solidFill>
                <a:effectLst/>
                <a:latin typeface="-apple-system"/>
                <a:cs typeface="B Nazanin" panose="00000400000000000000" pitchFamily="2" charset="-78"/>
              </a:rPr>
              <a:t>fixture، </a:t>
            </a:r>
            <a:r>
              <a:rPr lang="fa-IR" b="0" i="0" dirty="0">
                <a:solidFill>
                  <a:schemeClr val="tx1"/>
                </a:solidFill>
                <a:effectLst/>
                <a:latin typeface="-apple-system"/>
                <a:cs typeface="B Nazanin" panose="00000400000000000000" pitchFamily="2" charset="-78"/>
              </a:rPr>
              <a:t>اسکریپت‌های لوکال، جدا کردن </a:t>
            </a:r>
            <a:r>
              <a:rPr lang="en-US" b="0" i="0" dirty="0">
                <a:solidFill>
                  <a:schemeClr val="tx1"/>
                </a:solidFill>
                <a:effectLst/>
                <a:latin typeface="-apple-system"/>
                <a:cs typeface="B Nazanin" panose="00000400000000000000" pitchFamily="2" charset="-78"/>
              </a:rPr>
              <a:t>secret</a:t>
            </a:r>
            <a:r>
              <a:rPr lang="fa-IR" b="0" i="0" dirty="0">
                <a:solidFill>
                  <a:schemeClr val="tx1"/>
                </a:solidFill>
                <a:effectLst/>
                <a:latin typeface="-apple-system"/>
                <a:cs typeface="B Nazanin" panose="00000400000000000000" pitchFamily="2" charset="-78"/>
              </a:rPr>
              <a:t>ها، </a:t>
            </a:r>
            <a:r>
              <a:rPr lang="en-US" b="0" i="0" dirty="0">
                <a:solidFill>
                  <a:schemeClr val="tx1"/>
                </a:solidFill>
                <a:effectLst/>
                <a:latin typeface="-apple-system"/>
                <a:cs typeface="B Nazanin" panose="00000400000000000000" pitchFamily="2" charset="-78"/>
              </a:rPr>
              <a:t>draft </a:t>
            </a:r>
            <a:r>
              <a:rPr lang="fa-IR" b="0" i="0" dirty="0">
                <a:solidFill>
                  <a:schemeClr val="tx1"/>
                </a:solidFill>
                <a:effectLst/>
                <a:latin typeface="-apple-system"/>
                <a:cs typeface="B Nazanin" panose="00000400000000000000" pitchFamily="2" charset="-78"/>
              </a:rPr>
              <a:t>شدن وردپرس، و ادامه </a:t>
            </a:r>
            <a:r>
              <a:rPr lang="en-US" b="0" i="0" dirty="0">
                <a:solidFill>
                  <a:schemeClr val="tx1"/>
                </a:solidFill>
                <a:effectLst/>
                <a:latin typeface="-apple-system"/>
                <a:cs typeface="B Nazanin" panose="00000400000000000000" pitchFamily="2" charset="-78"/>
              </a:rPr>
              <a:t>workflow </a:t>
            </a:r>
            <a:r>
              <a:rPr lang="fa-IR" b="0" i="0" dirty="0">
                <a:solidFill>
                  <a:schemeClr val="tx1"/>
                </a:solidFill>
                <a:effectLst/>
                <a:latin typeface="-apple-system"/>
                <a:cs typeface="B Nazanin" panose="00000400000000000000" pitchFamily="2" charset="-78"/>
              </a:rPr>
              <a:t>بدون تصویر، همگی نشان می‌دهند که کاربر پروژه را فقط برای «کار کردن در حالت ایده‌آل» نمی‌خواست؛ بلکه دنبال سیستمی بود که در شرایط واقعی، با خطاهای </a:t>
            </a:r>
            <a:r>
              <a:rPr lang="en-US" b="0" i="0" dirty="0">
                <a:solidFill>
                  <a:schemeClr val="tx1"/>
                </a:solidFill>
                <a:effectLst/>
                <a:latin typeface="-apple-system"/>
                <a:cs typeface="B Nazanin" panose="00000400000000000000" pitchFamily="2" charset="-78"/>
              </a:rPr>
              <a:t>API، </a:t>
            </a:r>
            <a:r>
              <a:rPr lang="fa-IR" b="0" i="0" dirty="0">
                <a:solidFill>
                  <a:schemeClr val="tx1"/>
                </a:solidFill>
                <a:effectLst/>
                <a:latin typeface="-apple-system"/>
                <a:cs typeface="B Nazanin" panose="00000400000000000000" pitchFamily="2" charset="-78"/>
              </a:rPr>
              <a:t>محدودیت اکانت‌ها، مشکل وردپرس، نبود تصویر و تفاوت مدل‌های هوش مصنوعی هم دوام بیاورد. همین نگاه، پروژه را از یک نمونه نمایشی به یک </a:t>
            </a:r>
            <a:r>
              <a:rPr lang="en-US" b="0" i="0" dirty="0">
                <a:solidFill>
                  <a:schemeClr val="tx1"/>
                </a:solidFill>
                <a:effectLst/>
                <a:latin typeface="-apple-system"/>
                <a:cs typeface="B Nazanin" panose="00000400000000000000" pitchFamily="2" charset="-78"/>
              </a:rPr>
              <a:t>MVP </a:t>
            </a:r>
            <a:r>
              <a:rPr lang="fa-IR" b="0" i="0" dirty="0">
                <a:solidFill>
                  <a:schemeClr val="tx1"/>
                </a:solidFill>
                <a:effectLst/>
                <a:latin typeface="-apple-system"/>
                <a:cs typeface="B Nazanin" panose="00000400000000000000" pitchFamily="2" charset="-78"/>
              </a:rPr>
              <a:t>قابل اتکا نزدیک کرد.</a:t>
            </a:r>
          </a:p>
        </p:txBody>
      </p:sp>
      <p:sp>
        <p:nvSpPr>
          <p:cNvPr id="5" name="TextBox 4">
            <a:extLst>
              <a:ext uri="{FF2B5EF4-FFF2-40B4-BE49-F238E27FC236}">
                <a16:creationId xmlns:a16="http://schemas.microsoft.com/office/drawing/2014/main" id="{980B4897-807D-41F7-8B7F-AA5D6B91D878}"/>
              </a:ext>
            </a:extLst>
          </p:cNvPr>
          <p:cNvSpPr txBox="1"/>
          <p:nvPr/>
        </p:nvSpPr>
        <p:spPr>
          <a:xfrm>
            <a:off x="243840" y="751840"/>
            <a:ext cx="528320" cy="369332"/>
          </a:xfrm>
          <a:prstGeom prst="rect">
            <a:avLst/>
          </a:prstGeom>
          <a:noFill/>
        </p:spPr>
        <p:txBody>
          <a:bodyPr wrap="square" rtlCol="0">
            <a:spAutoFit/>
          </a:bodyPr>
          <a:lstStyle/>
          <a:p>
            <a:pPr algn="r" rtl="1"/>
            <a:r>
              <a:rPr lang="en-US" dirty="0">
                <a:solidFill>
                  <a:schemeClr val="bg1"/>
                </a:solidFill>
                <a:cs typeface="B Nazanin" panose="00000400000000000000" pitchFamily="2" charset="-78"/>
              </a:rPr>
              <a:t>5</a:t>
            </a:r>
          </a:p>
        </p:txBody>
      </p:sp>
    </p:spTree>
    <p:extLst>
      <p:ext uri="{BB962C8B-B14F-4D97-AF65-F5344CB8AC3E}">
        <p14:creationId xmlns:p14="http://schemas.microsoft.com/office/powerpoint/2010/main" val="764713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77A-F9CF-424F-84AA-D8C843F1B4C4}"/>
              </a:ext>
            </a:extLst>
          </p:cNvPr>
          <p:cNvSpPr>
            <a:spLocks noGrp="1"/>
          </p:cNvSpPr>
          <p:nvPr>
            <p:ph type="title"/>
          </p:nvPr>
        </p:nvSpPr>
        <p:spPr/>
        <p:txBody>
          <a:bodyPr/>
          <a:lstStyle/>
          <a:p>
            <a:pPr algn="r"/>
            <a:r>
              <a:rPr lang="fa-IR" b="1" i="0" dirty="0">
                <a:solidFill>
                  <a:schemeClr val="accent1"/>
                </a:solidFill>
                <a:effectLst/>
                <a:latin typeface="-apple-system"/>
                <a:cs typeface="B Nazanin" panose="00000400000000000000" pitchFamily="2" charset="-78"/>
              </a:rPr>
              <a:t>تحلیل سبک فرمان‌دهی </a:t>
            </a:r>
            <a:endParaRPr lang="en-US" dirty="0">
              <a:solidFill>
                <a:schemeClr val="accent1"/>
              </a:solidFill>
              <a:cs typeface="B Nazanin" panose="00000400000000000000" pitchFamily="2" charset="-78"/>
            </a:endParaRPr>
          </a:p>
        </p:txBody>
      </p:sp>
      <p:sp>
        <p:nvSpPr>
          <p:cNvPr id="3" name="Content Placeholder 2">
            <a:extLst>
              <a:ext uri="{FF2B5EF4-FFF2-40B4-BE49-F238E27FC236}">
                <a16:creationId xmlns:a16="http://schemas.microsoft.com/office/drawing/2014/main" id="{0619F152-B119-4B23-9A5D-EB233158E6F0}"/>
              </a:ext>
            </a:extLst>
          </p:cNvPr>
          <p:cNvSpPr>
            <a:spLocks noGrp="1"/>
          </p:cNvSpPr>
          <p:nvPr>
            <p:ph idx="1"/>
          </p:nvPr>
        </p:nvSpPr>
        <p:spPr/>
        <p:txBody>
          <a:bodyPr>
            <a:noAutofit/>
          </a:bodyPr>
          <a:lstStyle/>
          <a:p>
            <a:pPr algn="just" rtl="1"/>
            <a:r>
              <a:rPr lang="fa-IR" sz="2000" b="0" i="0" dirty="0">
                <a:solidFill>
                  <a:schemeClr val="tx1"/>
                </a:solidFill>
                <a:effectLst/>
                <a:latin typeface="-apple-system"/>
                <a:cs typeface="B Nazanin" panose="00000400000000000000" pitchFamily="2" charset="-78"/>
              </a:rPr>
              <a:t>از نظر معماری هم فرمان‌ها بسیار اثرگذار بودند. اصرار روی حذف وابستگی مستقیم به </a:t>
            </a:r>
            <a:r>
              <a:rPr lang="en-US" sz="2000" b="0" i="0" dirty="0" err="1">
                <a:solidFill>
                  <a:schemeClr val="tx1"/>
                </a:solidFill>
                <a:effectLst/>
                <a:latin typeface="-apple-system"/>
                <a:cs typeface="B Nazanin" panose="00000400000000000000" pitchFamily="2" charset="-78"/>
              </a:rPr>
              <a:t>ChatGPT</a:t>
            </a:r>
            <a:r>
              <a:rPr lang="en-US" sz="2000" b="0" i="0" dirty="0">
                <a:solidFill>
                  <a:schemeClr val="tx1"/>
                </a:solidFill>
                <a:effectLst/>
                <a:latin typeface="-apple-system"/>
                <a:cs typeface="B Nazanin" panose="00000400000000000000" pitchFamily="2" charset="-78"/>
              </a:rPr>
              <a:t>، </a:t>
            </a:r>
            <a:r>
              <a:rPr lang="fa-IR" sz="2000" b="0" i="0" dirty="0">
                <a:solidFill>
                  <a:schemeClr val="tx1"/>
                </a:solidFill>
                <a:effectLst/>
                <a:latin typeface="-apple-system"/>
                <a:cs typeface="B Nazanin" panose="00000400000000000000" pitchFamily="2" charset="-78"/>
              </a:rPr>
              <a:t>ساخت </a:t>
            </a:r>
            <a:r>
              <a:rPr lang="en-US" sz="2000" b="0" i="0" dirty="0">
                <a:solidFill>
                  <a:schemeClr val="tx1"/>
                </a:solidFill>
                <a:effectLst/>
                <a:latin typeface="-apple-system"/>
                <a:cs typeface="B Nazanin" panose="00000400000000000000" pitchFamily="2" charset="-78"/>
              </a:rPr>
              <a:t>Interface </a:t>
            </a:r>
            <a:r>
              <a:rPr lang="fa-IR" sz="2000" b="0" i="0" dirty="0">
                <a:solidFill>
                  <a:schemeClr val="tx1"/>
                </a:solidFill>
                <a:effectLst/>
                <a:latin typeface="-apple-system"/>
                <a:cs typeface="B Nazanin" panose="00000400000000000000" pitchFamily="2" charset="-78"/>
              </a:rPr>
              <a:t>برای </a:t>
            </a:r>
            <a:r>
              <a:rPr lang="en-US" sz="2000" b="0" i="0" dirty="0">
                <a:solidFill>
                  <a:schemeClr val="tx1"/>
                </a:solidFill>
                <a:effectLst/>
                <a:latin typeface="-apple-system"/>
                <a:cs typeface="B Nazanin" panose="00000400000000000000" pitchFamily="2" charset="-78"/>
              </a:rPr>
              <a:t>LLM، </a:t>
            </a:r>
            <a:r>
              <a:rPr lang="fa-IR" sz="2000" b="0" i="0" dirty="0">
                <a:solidFill>
                  <a:schemeClr val="tx1"/>
                </a:solidFill>
                <a:effectLst/>
                <a:latin typeface="-apple-system"/>
                <a:cs typeface="B Nazanin" panose="00000400000000000000" pitchFamily="2" charset="-78"/>
              </a:rPr>
              <a:t>اضافه کردن </a:t>
            </a:r>
            <a:r>
              <a:rPr lang="en-US" sz="2000" b="0" i="0" dirty="0" err="1">
                <a:solidFill>
                  <a:schemeClr val="tx1"/>
                </a:solidFill>
                <a:effectLst/>
                <a:latin typeface="-apple-system"/>
                <a:cs typeface="B Nazanin" panose="00000400000000000000" pitchFamily="2" charset="-78"/>
              </a:rPr>
              <a:t>Groq</a:t>
            </a:r>
            <a:r>
              <a:rPr lang="en-US" sz="2000" b="0" i="0" dirty="0">
                <a:solidFill>
                  <a:schemeClr val="tx1"/>
                </a:solidFill>
                <a:effectLst/>
                <a:latin typeface="-apple-system"/>
                <a:cs typeface="B Nazanin" panose="00000400000000000000" pitchFamily="2" charset="-78"/>
              </a:rPr>
              <a:t> </a:t>
            </a:r>
            <a:r>
              <a:rPr lang="fa-IR" sz="2000" b="0" i="0" dirty="0">
                <a:solidFill>
                  <a:schemeClr val="tx1"/>
                </a:solidFill>
                <a:effectLst/>
                <a:latin typeface="-apple-system"/>
                <a:cs typeface="B Nazanin" panose="00000400000000000000" pitchFamily="2" charset="-78"/>
              </a:rPr>
              <a:t>و </a:t>
            </a:r>
            <a:r>
              <a:rPr lang="en-US" sz="2000" b="0" i="0" dirty="0">
                <a:solidFill>
                  <a:schemeClr val="tx1"/>
                </a:solidFill>
                <a:effectLst/>
                <a:latin typeface="-apple-system"/>
                <a:cs typeface="B Nazanin" panose="00000400000000000000" pitchFamily="2" charset="-78"/>
              </a:rPr>
              <a:t>Fixture، </a:t>
            </a:r>
            <a:r>
              <a:rPr lang="fa-IR" sz="2000" b="0" i="0" dirty="0">
                <a:solidFill>
                  <a:schemeClr val="tx1"/>
                </a:solidFill>
                <a:effectLst/>
                <a:latin typeface="-apple-system"/>
                <a:cs typeface="B Nazanin" panose="00000400000000000000" pitchFamily="2" charset="-78"/>
              </a:rPr>
              <a:t>و بعد جدا کردن </a:t>
            </a:r>
            <a:r>
              <a:rPr lang="en-US" sz="2000" b="0" i="0" dirty="0">
                <a:solidFill>
                  <a:schemeClr val="tx1"/>
                </a:solidFill>
                <a:effectLst/>
                <a:latin typeface="-apple-system"/>
                <a:cs typeface="B Nazanin" panose="00000400000000000000" pitchFamily="2" charset="-78"/>
              </a:rPr>
              <a:t>Image Provider</a:t>
            </a:r>
            <a:r>
              <a:rPr lang="fa-IR" sz="2000" b="0" i="0" dirty="0">
                <a:solidFill>
                  <a:schemeClr val="tx1"/>
                </a:solidFill>
                <a:effectLst/>
                <a:latin typeface="-apple-system"/>
                <a:cs typeface="B Nazanin" panose="00000400000000000000" pitchFamily="2" charset="-78"/>
              </a:rPr>
              <a:t>ها باعث شد سیستم از یک پیاده‌سازی وابسته به یک سرویس، به یک معماری قابل تعویض و قابل توسعه تبدیل شود. این دقیقاً همان جایی است که کیفیت فرمان‌دهی کاربر خودش را نشان می‌دهد: مسئله فقط «یک سرویس دیگر اضافه کن» نبود؛ مسئله این بود که پروژه طوری تغییر کند که در آینده </a:t>
            </a:r>
            <a:r>
              <a:rPr lang="en-US" sz="2000" b="0" i="0" dirty="0">
                <a:solidFill>
                  <a:schemeClr val="tx1"/>
                </a:solidFill>
                <a:effectLst/>
                <a:latin typeface="-apple-system"/>
                <a:cs typeface="B Nazanin" panose="00000400000000000000" pitchFamily="2" charset="-78"/>
              </a:rPr>
              <a:t>Provider</a:t>
            </a:r>
            <a:r>
              <a:rPr lang="fa-IR" sz="2000" b="0" i="0" dirty="0">
                <a:solidFill>
                  <a:schemeClr val="tx1"/>
                </a:solidFill>
                <a:effectLst/>
                <a:latin typeface="-apple-system"/>
                <a:cs typeface="B Nazanin" panose="00000400000000000000" pitchFamily="2" charset="-78"/>
              </a:rPr>
              <a:t>های جدید، مسیرهای تست و حالت‌های شکست را راحت‌تر بپذیرد.</a:t>
            </a:r>
          </a:p>
          <a:p>
            <a:pPr algn="just" rtl="1"/>
            <a:endParaRPr lang="fa-IR" sz="2000" b="0" i="0" dirty="0">
              <a:solidFill>
                <a:schemeClr val="tx1"/>
              </a:solidFill>
              <a:effectLst/>
              <a:latin typeface="-apple-system"/>
              <a:cs typeface="B Nazanin" panose="00000400000000000000" pitchFamily="2" charset="-78"/>
            </a:endParaRPr>
          </a:p>
          <a:p>
            <a:pPr algn="just" rtl="1"/>
            <a:r>
              <a:rPr lang="fa-IR" sz="2000" b="0" i="0" dirty="0">
                <a:solidFill>
                  <a:schemeClr val="tx1"/>
                </a:solidFill>
                <a:effectLst/>
                <a:latin typeface="-apple-system"/>
                <a:cs typeface="B Nazanin" panose="00000400000000000000" pitchFamily="2" charset="-78"/>
              </a:rPr>
              <a:t>در مجموع، مسیر فرمان‌ها نشان می‌دهد کاربر فقط ایده‌دهنده نبود؛ نقش یک مالک محصول فنی را داشت که هم خروجی می‌خواهد، هم محدودیت واقعی محیط را می‌فهمد، هم وقتی خطا می‌بیند آن را به بهبود معماری تبدیل می‌کند. اگر بخواهیم این پروژه را در یک ارائه روایت کنیم، یکی از جذاب‌ترین پیام‌هایش همین است: معماری خوب همیشه از اول کامل طراحی نمی‌شود؛ گاهی از فرمان‌های دقیق، مرحله‌ای، واقع‌بینانه و پیگیرانه ساخته می‌شود. در این پروژه، همین جنس فرمان‌ها بود که باعث شد سیستم به‌جای یک اتصال ساده به </a:t>
            </a:r>
            <a:r>
              <a:rPr lang="en-US" sz="2000" b="0" i="0" dirty="0">
                <a:solidFill>
                  <a:schemeClr val="tx1"/>
                </a:solidFill>
                <a:effectLst/>
                <a:latin typeface="-apple-system"/>
                <a:cs typeface="B Nazanin" panose="00000400000000000000" pitchFamily="2" charset="-78"/>
              </a:rPr>
              <a:t>AI، </a:t>
            </a:r>
            <a:r>
              <a:rPr lang="fa-IR" sz="2000" b="0" i="0" dirty="0">
                <a:solidFill>
                  <a:schemeClr val="tx1"/>
                </a:solidFill>
                <a:effectLst/>
                <a:latin typeface="-apple-system"/>
                <a:cs typeface="B Nazanin" panose="00000400000000000000" pitchFamily="2" charset="-78"/>
              </a:rPr>
              <a:t>به یک زنجیره تولید و انتشار محتوای قابل تنظیم، قابل تست و قابل استقرار تبدیل شود.</a:t>
            </a:r>
          </a:p>
        </p:txBody>
      </p:sp>
      <p:sp>
        <p:nvSpPr>
          <p:cNvPr id="4" name="TextBox 3">
            <a:extLst>
              <a:ext uri="{FF2B5EF4-FFF2-40B4-BE49-F238E27FC236}">
                <a16:creationId xmlns:a16="http://schemas.microsoft.com/office/drawing/2014/main" id="{4CC75906-F2C9-42F9-BFFD-4B905236CA33}"/>
              </a:ext>
            </a:extLst>
          </p:cNvPr>
          <p:cNvSpPr txBox="1"/>
          <p:nvPr/>
        </p:nvSpPr>
        <p:spPr>
          <a:xfrm>
            <a:off x="243840" y="751840"/>
            <a:ext cx="528320" cy="369332"/>
          </a:xfrm>
          <a:prstGeom prst="rect">
            <a:avLst/>
          </a:prstGeom>
          <a:noFill/>
        </p:spPr>
        <p:txBody>
          <a:bodyPr wrap="square" rtlCol="0">
            <a:spAutoFit/>
          </a:bodyPr>
          <a:lstStyle/>
          <a:p>
            <a:pPr algn="r" rtl="1"/>
            <a:r>
              <a:rPr lang="en-US" dirty="0">
                <a:solidFill>
                  <a:schemeClr val="bg1"/>
                </a:solidFill>
                <a:cs typeface="B Nazanin" panose="00000400000000000000" pitchFamily="2" charset="-78"/>
              </a:rPr>
              <a:t>6</a:t>
            </a:r>
          </a:p>
        </p:txBody>
      </p:sp>
    </p:spTree>
    <p:extLst>
      <p:ext uri="{BB962C8B-B14F-4D97-AF65-F5344CB8AC3E}">
        <p14:creationId xmlns:p14="http://schemas.microsoft.com/office/powerpoint/2010/main" val="1714407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77A-F9CF-424F-84AA-D8C843F1B4C4}"/>
              </a:ext>
            </a:extLst>
          </p:cNvPr>
          <p:cNvSpPr>
            <a:spLocks noGrp="1"/>
          </p:cNvSpPr>
          <p:nvPr>
            <p:ph type="title"/>
          </p:nvPr>
        </p:nvSpPr>
        <p:spPr/>
        <p:txBody>
          <a:bodyPr/>
          <a:lstStyle/>
          <a:p>
            <a:pPr algn="r"/>
            <a:r>
              <a:rPr lang="fa-IR" b="1" i="0" dirty="0">
                <a:solidFill>
                  <a:schemeClr val="accent1"/>
                </a:solidFill>
                <a:effectLst/>
                <a:latin typeface="-apple-system"/>
                <a:cs typeface="B Nazanin" panose="00000400000000000000" pitchFamily="2" charset="-78"/>
              </a:rPr>
              <a:t>خط زمانی فنی پروژه</a:t>
            </a:r>
          </a:p>
        </p:txBody>
      </p:sp>
      <p:sp>
        <p:nvSpPr>
          <p:cNvPr id="3" name="Content Placeholder 2">
            <a:extLst>
              <a:ext uri="{FF2B5EF4-FFF2-40B4-BE49-F238E27FC236}">
                <a16:creationId xmlns:a16="http://schemas.microsoft.com/office/drawing/2014/main" id="{0619F152-B119-4B23-9A5D-EB233158E6F0}"/>
              </a:ext>
            </a:extLst>
          </p:cNvPr>
          <p:cNvSpPr>
            <a:spLocks noGrp="1"/>
          </p:cNvSpPr>
          <p:nvPr>
            <p:ph idx="1"/>
          </p:nvPr>
        </p:nvSpPr>
        <p:spPr>
          <a:xfrm>
            <a:off x="6759388" y="2133600"/>
            <a:ext cx="4745224" cy="3777622"/>
          </a:xfrm>
        </p:spPr>
        <p:txBody>
          <a:bodyPr numCol="1">
            <a:normAutofit lnSpcReduction="10000"/>
          </a:bodyPr>
          <a:lstStyle/>
          <a:p>
            <a:pPr algn="r" rtl="1"/>
            <a:r>
              <a:rPr lang="fa-IR" sz="2400" b="0" i="0" dirty="0">
                <a:solidFill>
                  <a:schemeClr val="tx1"/>
                </a:solidFill>
                <a:effectLst/>
                <a:latin typeface="-apple-system"/>
                <a:cs typeface="B Nazanin" panose="00000400000000000000" pitchFamily="2" charset="-78"/>
              </a:rPr>
              <a:t> ۱: مستندسازی و اتصال </a:t>
            </a:r>
            <a:r>
              <a:rPr lang="en-US" sz="2400" b="0" i="0" dirty="0">
                <a:solidFill>
                  <a:schemeClr val="tx1"/>
                </a:solidFill>
                <a:effectLst/>
                <a:latin typeface="-apple-system"/>
                <a:cs typeface="B Nazanin" panose="00000400000000000000" pitchFamily="2" charset="-78"/>
              </a:rPr>
              <a:t>GitHub</a:t>
            </a:r>
          </a:p>
          <a:p>
            <a:pPr algn="r" rtl="1"/>
            <a:r>
              <a:rPr lang="en-US" sz="2400" b="0" i="0" dirty="0">
                <a:solidFill>
                  <a:schemeClr val="tx1"/>
                </a:solidFill>
                <a:effectLst/>
                <a:latin typeface="-apple-system"/>
                <a:cs typeface="B Nazanin" panose="00000400000000000000" pitchFamily="2" charset="-78"/>
              </a:rPr>
              <a:t> </a:t>
            </a:r>
            <a:r>
              <a:rPr lang="fa-IR" sz="2400" b="0" i="0" dirty="0">
                <a:solidFill>
                  <a:schemeClr val="tx1"/>
                </a:solidFill>
                <a:effectLst/>
                <a:latin typeface="-apple-system"/>
                <a:cs typeface="B Nazanin" panose="00000400000000000000" pitchFamily="2" charset="-78"/>
              </a:rPr>
              <a:t>۲: </a:t>
            </a:r>
            <a:r>
              <a:rPr lang="en-US" sz="2400" b="0" i="0" dirty="0">
                <a:solidFill>
                  <a:schemeClr val="tx1"/>
                </a:solidFill>
                <a:effectLst/>
                <a:latin typeface="-apple-system"/>
                <a:cs typeface="B Nazanin" panose="00000400000000000000" pitchFamily="2" charset="-78"/>
              </a:rPr>
              <a:t>MVP</a:t>
            </a:r>
            <a:r>
              <a:rPr lang="fa-IR" sz="2400" b="0" i="0" dirty="0">
                <a:solidFill>
                  <a:schemeClr val="tx1"/>
                </a:solidFill>
                <a:effectLst/>
                <a:latin typeface="-apple-system"/>
                <a:cs typeface="B Nazanin" panose="00000400000000000000" pitchFamily="2" charset="-78"/>
              </a:rPr>
              <a:t> </a:t>
            </a:r>
            <a:r>
              <a:rPr lang="en-US" sz="2400" b="0" i="0" dirty="0">
                <a:solidFill>
                  <a:schemeClr val="tx1"/>
                </a:solidFill>
                <a:effectLst/>
                <a:latin typeface="-apple-system"/>
                <a:cs typeface="B Nazanin" panose="00000400000000000000" pitchFamily="2" charset="-78"/>
              </a:rPr>
              <a:t> </a:t>
            </a:r>
            <a:r>
              <a:rPr lang="fa-IR" sz="2400" b="0" i="0" dirty="0">
                <a:solidFill>
                  <a:schemeClr val="tx1"/>
                </a:solidFill>
                <a:effectLst/>
                <a:latin typeface="-apple-system"/>
                <a:cs typeface="B Nazanin" panose="00000400000000000000" pitchFamily="2" charset="-78"/>
              </a:rPr>
              <a:t>زمان‌بندی‌شده با .</a:t>
            </a:r>
            <a:r>
              <a:rPr lang="en-US" sz="2400" b="0" i="0" dirty="0">
                <a:solidFill>
                  <a:schemeClr val="tx1"/>
                </a:solidFill>
                <a:effectLst/>
                <a:latin typeface="-apple-system"/>
                <a:cs typeface="B Nazanin" panose="00000400000000000000" pitchFamily="2" charset="-78"/>
              </a:rPr>
              <a:t>NET Worker</a:t>
            </a:r>
          </a:p>
          <a:p>
            <a:pPr algn="r" rtl="1"/>
            <a:r>
              <a:rPr lang="en-US" sz="2400" b="0" i="0" dirty="0">
                <a:solidFill>
                  <a:schemeClr val="tx1"/>
                </a:solidFill>
                <a:effectLst/>
                <a:latin typeface="-apple-system"/>
                <a:cs typeface="B Nazanin" panose="00000400000000000000" pitchFamily="2" charset="-78"/>
              </a:rPr>
              <a:t> </a:t>
            </a:r>
            <a:r>
              <a:rPr lang="fa-IR" sz="2400" b="0" i="0" dirty="0">
                <a:solidFill>
                  <a:schemeClr val="tx1"/>
                </a:solidFill>
                <a:effectLst/>
                <a:latin typeface="-apple-system"/>
                <a:cs typeface="B Nazanin" panose="00000400000000000000" pitchFamily="2" charset="-78"/>
              </a:rPr>
              <a:t>۳: تولید مقاله و تصویر با </a:t>
            </a:r>
            <a:r>
              <a:rPr lang="en-US" sz="2400" b="0" i="0" dirty="0" err="1">
                <a:solidFill>
                  <a:schemeClr val="tx1"/>
                </a:solidFill>
                <a:effectLst/>
                <a:latin typeface="-apple-system"/>
                <a:cs typeface="B Nazanin" panose="00000400000000000000" pitchFamily="2" charset="-78"/>
              </a:rPr>
              <a:t>OpenAI</a:t>
            </a:r>
            <a:endParaRPr lang="en-US" sz="2400" b="0" i="0" dirty="0">
              <a:solidFill>
                <a:schemeClr val="tx1"/>
              </a:solidFill>
              <a:effectLst/>
              <a:latin typeface="-apple-system"/>
              <a:cs typeface="B Nazanin" panose="00000400000000000000" pitchFamily="2" charset="-78"/>
            </a:endParaRPr>
          </a:p>
          <a:p>
            <a:pPr algn="r" rtl="1"/>
            <a:r>
              <a:rPr lang="en-US" sz="2400" b="0" i="0" dirty="0">
                <a:solidFill>
                  <a:schemeClr val="tx1"/>
                </a:solidFill>
                <a:effectLst/>
                <a:latin typeface="-apple-system"/>
                <a:cs typeface="B Nazanin" panose="00000400000000000000" pitchFamily="2" charset="-78"/>
              </a:rPr>
              <a:t> </a:t>
            </a:r>
            <a:r>
              <a:rPr lang="fa-IR" sz="2400" b="0" i="0" dirty="0">
                <a:solidFill>
                  <a:schemeClr val="tx1"/>
                </a:solidFill>
                <a:effectLst/>
                <a:latin typeface="-apple-system"/>
                <a:cs typeface="B Nazanin" panose="00000400000000000000" pitchFamily="2" charset="-78"/>
              </a:rPr>
              <a:t>۴: انتشار به </a:t>
            </a:r>
            <a:r>
              <a:rPr lang="en-US" sz="2400" b="0" i="0" dirty="0">
                <a:solidFill>
                  <a:schemeClr val="tx1"/>
                </a:solidFill>
                <a:effectLst/>
                <a:latin typeface="-apple-system"/>
                <a:cs typeface="B Nazanin" panose="00000400000000000000" pitchFamily="2" charset="-78"/>
              </a:rPr>
              <a:t>WordPress </a:t>
            </a:r>
            <a:r>
              <a:rPr lang="fa-IR" sz="2400" b="0" i="0" dirty="0">
                <a:solidFill>
                  <a:schemeClr val="tx1"/>
                </a:solidFill>
                <a:effectLst/>
                <a:latin typeface="-apple-system"/>
                <a:cs typeface="B Nazanin" panose="00000400000000000000" pitchFamily="2" charset="-78"/>
              </a:rPr>
              <a:t>و </a:t>
            </a:r>
            <a:r>
              <a:rPr lang="en-US" sz="2400" b="0" i="0" dirty="0">
                <a:solidFill>
                  <a:schemeClr val="tx1"/>
                </a:solidFill>
                <a:effectLst/>
                <a:latin typeface="-apple-system"/>
                <a:cs typeface="B Nazanin" panose="00000400000000000000" pitchFamily="2" charset="-78"/>
              </a:rPr>
              <a:t>Instagram</a:t>
            </a:r>
          </a:p>
          <a:p>
            <a:pPr algn="r" rtl="1"/>
            <a:r>
              <a:rPr lang="en-US" sz="2400" b="0" i="0" dirty="0">
                <a:solidFill>
                  <a:schemeClr val="tx1"/>
                </a:solidFill>
                <a:effectLst/>
                <a:latin typeface="-apple-system"/>
                <a:cs typeface="B Nazanin" panose="00000400000000000000" pitchFamily="2" charset="-78"/>
              </a:rPr>
              <a:t> </a:t>
            </a:r>
            <a:r>
              <a:rPr lang="fa-IR" sz="2400" b="0" i="0" dirty="0">
                <a:solidFill>
                  <a:schemeClr val="tx1"/>
                </a:solidFill>
                <a:effectLst/>
                <a:latin typeface="-apple-system"/>
                <a:cs typeface="B Nazanin" panose="00000400000000000000" pitchFamily="2" charset="-78"/>
              </a:rPr>
              <a:t>۵: </a:t>
            </a:r>
            <a:r>
              <a:rPr lang="en-US" sz="2400" b="0" i="0" dirty="0">
                <a:solidFill>
                  <a:schemeClr val="tx1"/>
                </a:solidFill>
                <a:effectLst/>
                <a:latin typeface="-apple-system"/>
                <a:cs typeface="B Nazanin" panose="00000400000000000000" pitchFamily="2" charset="-78"/>
              </a:rPr>
              <a:t>Telegram Publishing</a:t>
            </a:r>
          </a:p>
          <a:p>
            <a:pPr algn="r" rtl="1"/>
            <a:r>
              <a:rPr lang="en-US" sz="2400" b="0" i="0" dirty="0">
                <a:solidFill>
                  <a:schemeClr val="tx1"/>
                </a:solidFill>
                <a:effectLst/>
                <a:latin typeface="-apple-system"/>
                <a:cs typeface="B Nazanin" panose="00000400000000000000" pitchFamily="2" charset="-78"/>
              </a:rPr>
              <a:t> </a:t>
            </a:r>
            <a:r>
              <a:rPr lang="fa-IR" sz="2400" b="0" i="0" dirty="0">
                <a:solidFill>
                  <a:schemeClr val="tx1"/>
                </a:solidFill>
                <a:effectLst/>
                <a:latin typeface="-apple-system"/>
                <a:cs typeface="B Nazanin" panose="00000400000000000000" pitchFamily="2" charset="-78"/>
              </a:rPr>
              <a:t>۶: </a:t>
            </a:r>
            <a:r>
              <a:rPr lang="en-US" sz="2400" b="0" i="0" dirty="0">
                <a:solidFill>
                  <a:schemeClr val="tx1"/>
                </a:solidFill>
                <a:effectLst/>
                <a:latin typeface="-apple-system"/>
                <a:cs typeface="B Nazanin" panose="00000400000000000000" pitchFamily="2" charset="-78"/>
              </a:rPr>
              <a:t>Fixture</a:t>
            </a:r>
            <a:r>
              <a:rPr lang="fa-IR" sz="2400" b="0" i="0" dirty="0">
                <a:solidFill>
                  <a:schemeClr val="tx1"/>
                </a:solidFill>
                <a:effectLst/>
                <a:latin typeface="-apple-system"/>
                <a:cs typeface="B Nazanin" panose="00000400000000000000" pitchFamily="2" charset="-78"/>
              </a:rPr>
              <a:t> </a:t>
            </a:r>
            <a:r>
              <a:rPr lang="en-US" sz="2400" b="0" i="0" dirty="0">
                <a:solidFill>
                  <a:schemeClr val="tx1"/>
                </a:solidFill>
                <a:effectLst/>
                <a:latin typeface="-apple-system"/>
                <a:cs typeface="B Nazanin" panose="00000400000000000000" pitchFamily="2" charset="-78"/>
              </a:rPr>
              <a:t> </a:t>
            </a:r>
            <a:r>
              <a:rPr lang="fa-IR" sz="2400" b="0" i="0" dirty="0">
                <a:solidFill>
                  <a:schemeClr val="tx1"/>
                </a:solidFill>
                <a:effectLst/>
                <a:latin typeface="-apple-system"/>
                <a:cs typeface="B Nazanin" panose="00000400000000000000" pitchFamily="2" charset="-78"/>
              </a:rPr>
              <a:t>و تست بدون </a:t>
            </a:r>
            <a:r>
              <a:rPr lang="en-US" sz="2400" b="0" i="0" dirty="0">
                <a:solidFill>
                  <a:schemeClr val="tx1"/>
                </a:solidFill>
                <a:effectLst/>
                <a:latin typeface="-apple-system"/>
                <a:cs typeface="B Nazanin" panose="00000400000000000000" pitchFamily="2" charset="-78"/>
              </a:rPr>
              <a:t>API</a:t>
            </a:r>
          </a:p>
          <a:p>
            <a:pPr algn="r" rtl="1"/>
            <a:r>
              <a:rPr lang="en-US" sz="2400" b="0" i="0" dirty="0">
                <a:solidFill>
                  <a:schemeClr val="tx1"/>
                </a:solidFill>
                <a:effectLst/>
                <a:latin typeface="-apple-system"/>
                <a:cs typeface="B Nazanin" panose="00000400000000000000" pitchFamily="2" charset="-78"/>
              </a:rPr>
              <a:t> </a:t>
            </a:r>
            <a:r>
              <a:rPr lang="fa-IR" sz="2400" b="0" i="0" dirty="0">
                <a:solidFill>
                  <a:schemeClr val="tx1"/>
                </a:solidFill>
                <a:effectLst/>
                <a:latin typeface="-apple-system"/>
                <a:cs typeface="B Nazanin" panose="00000400000000000000" pitchFamily="2" charset="-78"/>
              </a:rPr>
              <a:t>۷: </a:t>
            </a:r>
            <a:r>
              <a:rPr lang="en-US" sz="2400" b="0" i="0" dirty="0">
                <a:solidFill>
                  <a:schemeClr val="tx1"/>
                </a:solidFill>
                <a:effectLst/>
                <a:latin typeface="-apple-system"/>
                <a:cs typeface="B Nazanin" panose="00000400000000000000" pitchFamily="2" charset="-78"/>
              </a:rPr>
              <a:t>Provider Architecture</a:t>
            </a:r>
          </a:p>
          <a:p>
            <a:pPr algn="r" rtl="1"/>
            <a:r>
              <a:rPr lang="en-US" sz="2400" b="0" i="0" dirty="0">
                <a:solidFill>
                  <a:schemeClr val="tx1"/>
                </a:solidFill>
                <a:effectLst/>
                <a:latin typeface="-apple-system"/>
                <a:cs typeface="B Nazanin" panose="00000400000000000000" pitchFamily="2" charset="-78"/>
              </a:rPr>
              <a:t> </a:t>
            </a:r>
            <a:r>
              <a:rPr lang="fa-IR" sz="2400" b="0" i="0" dirty="0">
                <a:solidFill>
                  <a:schemeClr val="tx1"/>
                </a:solidFill>
                <a:effectLst/>
                <a:latin typeface="-apple-system"/>
                <a:cs typeface="B Nazanin" panose="00000400000000000000" pitchFamily="2" charset="-78"/>
              </a:rPr>
              <a:t>۸: </a:t>
            </a:r>
            <a:r>
              <a:rPr lang="en-US" sz="2400" b="0" i="0" dirty="0" err="1">
                <a:solidFill>
                  <a:schemeClr val="tx1"/>
                </a:solidFill>
                <a:effectLst/>
                <a:latin typeface="-apple-system"/>
                <a:cs typeface="B Nazanin" panose="00000400000000000000" pitchFamily="2" charset="-78"/>
              </a:rPr>
              <a:t>Groq</a:t>
            </a:r>
            <a:r>
              <a:rPr lang="fa-IR" sz="2400" b="0" i="0" dirty="0">
                <a:solidFill>
                  <a:schemeClr val="tx1"/>
                </a:solidFill>
                <a:effectLst/>
                <a:latin typeface="-apple-system"/>
                <a:cs typeface="B Nazanin" panose="00000400000000000000" pitchFamily="2" charset="-78"/>
              </a:rPr>
              <a:t> </a:t>
            </a:r>
            <a:r>
              <a:rPr lang="en-US" sz="2400" b="0" i="0" dirty="0">
                <a:solidFill>
                  <a:schemeClr val="tx1"/>
                </a:solidFill>
                <a:effectLst/>
                <a:latin typeface="-apple-system"/>
                <a:cs typeface="B Nazanin" panose="00000400000000000000" pitchFamily="2" charset="-78"/>
              </a:rPr>
              <a:t> </a:t>
            </a:r>
            <a:r>
              <a:rPr lang="fa-IR" sz="2400" b="0" i="0" dirty="0">
                <a:solidFill>
                  <a:schemeClr val="tx1"/>
                </a:solidFill>
                <a:effectLst/>
                <a:latin typeface="-apple-system"/>
                <a:cs typeface="B Nazanin" panose="00000400000000000000" pitchFamily="2" charset="-78"/>
              </a:rPr>
              <a:t>و چالش‌های آن</a:t>
            </a:r>
          </a:p>
        </p:txBody>
      </p:sp>
      <p:sp>
        <p:nvSpPr>
          <p:cNvPr id="4" name="Content Placeholder 2">
            <a:extLst>
              <a:ext uri="{FF2B5EF4-FFF2-40B4-BE49-F238E27FC236}">
                <a16:creationId xmlns:a16="http://schemas.microsoft.com/office/drawing/2014/main" id="{3EC16403-40A2-45E5-871D-980A55EEF14E}"/>
              </a:ext>
            </a:extLst>
          </p:cNvPr>
          <p:cNvSpPr txBox="1">
            <a:spLocks/>
          </p:cNvSpPr>
          <p:nvPr/>
        </p:nvSpPr>
        <p:spPr>
          <a:xfrm>
            <a:off x="1846730" y="2133600"/>
            <a:ext cx="5005200" cy="3777622"/>
          </a:xfrm>
          <a:prstGeom prst="rect">
            <a:avLst/>
          </a:prstGeom>
        </p:spPr>
        <p:txBody>
          <a:bodyPr vert="horz" lIns="91440" tIns="45720" rIns="91440" bIns="45720" numCol="1"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r" rtl="1"/>
            <a:r>
              <a:rPr lang="fa-IR" sz="2400" dirty="0">
                <a:solidFill>
                  <a:schemeClr val="tx1"/>
                </a:solidFill>
                <a:latin typeface="-apple-system"/>
                <a:cs typeface="B Nazanin" panose="00000400000000000000" pitchFamily="2" charset="-78"/>
              </a:rPr>
              <a:t> ۹: دسته‌بندی و </a:t>
            </a:r>
            <a:r>
              <a:rPr lang="en-US" sz="2400" dirty="0">
                <a:solidFill>
                  <a:schemeClr val="tx1"/>
                </a:solidFill>
                <a:latin typeface="-apple-system"/>
                <a:cs typeface="B Nazanin" panose="00000400000000000000" pitchFamily="2" charset="-78"/>
              </a:rPr>
              <a:t>SEO</a:t>
            </a:r>
            <a:r>
              <a:rPr lang="fa-IR" sz="2400" dirty="0">
                <a:solidFill>
                  <a:schemeClr val="tx1"/>
                </a:solidFill>
                <a:latin typeface="-apple-system"/>
                <a:cs typeface="B Nazanin" panose="00000400000000000000" pitchFamily="2" charset="-78"/>
              </a:rPr>
              <a:t> </a:t>
            </a:r>
            <a:r>
              <a:rPr lang="en-US" sz="2400" dirty="0">
                <a:solidFill>
                  <a:schemeClr val="tx1"/>
                </a:solidFill>
                <a:latin typeface="-apple-system"/>
                <a:cs typeface="B Nazanin" panose="00000400000000000000" pitchFamily="2" charset="-78"/>
              </a:rPr>
              <a:t> </a:t>
            </a:r>
            <a:r>
              <a:rPr lang="fa-IR" sz="2400" dirty="0">
                <a:solidFill>
                  <a:schemeClr val="tx1"/>
                </a:solidFill>
                <a:latin typeface="-apple-system"/>
                <a:cs typeface="B Nazanin" panose="00000400000000000000" pitchFamily="2" charset="-78"/>
              </a:rPr>
              <a:t>وردپرس</a:t>
            </a:r>
          </a:p>
          <a:p>
            <a:pPr algn="r" rtl="1"/>
            <a:r>
              <a:rPr lang="fa-IR" sz="2400" dirty="0">
                <a:solidFill>
                  <a:schemeClr val="tx1"/>
                </a:solidFill>
                <a:latin typeface="-apple-system"/>
                <a:cs typeface="B Nazanin" panose="00000400000000000000" pitchFamily="2" charset="-78"/>
              </a:rPr>
              <a:t> ۱۰: </a:t>
            </a:r>
            <a:r>
              <a:rPr lang="en-US" sz="2400" dirty="0">
                <a:solidFill>
                  <a:schemeClr val="tx1"/>
                </a:solidFill>
                <a:latin typeface="-apple-system"/>
                <a:cs typeface="B Nazanin" panose="00000400000000000000" pitchFamily="2" charset="-78"/>
              </a:rPr>
              <a:t>Docker</a:t>
            </a:r>
            <a:r>
              <a:rPr lang="fa-IR" sz="2400" dirty="0">
                <a:solidFill>
                  <a:schemeClr val="tx1"/>
                </a:solidFill>
                <a:latin typeface="-apple-system"/>
                <a:cs typeface="B Nazanin" panose="00000400000000000000" pitchFamily="2" charset="-78"/>
              </a:rPr>
              <a:t> </a:t>
            </a:r>
            <a:r>
              <a:rPr lang="en-US" sz="2400" dirty="0">
                <a:solidFill>
                  <a:schemeClr val="tx1"/>
                </a:solidFill>
                <a:latin typeface="-apple-system"/>
                <a:cs typeface="B Nazanin" panose="00000400000000000000" pitchFamily="2" charset="-78"/>
              </a:rPr>
              <a:t> </a:t>
            </a:r>
            <a:r>
              <a:rPr lang="fa-IR" sz="2400" dirty="0">
                <a:solidFill>
                  <a:schemeClr val="tx1"/>
                </a:solidFill>
                <a:latin typeface="-apple-system"/>
                <a:cs typeface="B Nazanin" panose="00000400000000000000" pitchFamily="2" charset="-78"/>
              </a:rPr>
              <a:t>و استقرار سرور</a:t>
            </a:r>
          </a:p>
          <a:p>
            <a:pPr algn="r" rtl="1"/>
            <a:r>
              <a:rPr lang="fa-IR" sz="2400" dirty="0">
                <a:solidFill>
                  <a:schemeClr val="tx1"/>
                </a:solidFill>
                <a:latin typeface="-apple-system"/>
                <a:cs typeface="B Nazanin" panose="00000400000000000000" pitchFamily="2" charset="-78"/>
              </a:rPr>
              <a:t> 11: جدا کردن   </a:t>
            </a:r>
            <a:r>
              <a:rPr lang="en-US" sz="2400" dirty="0">
                <a:solidFill>
                  <a:schemeClr val="tx1"/>
                </a:solidFill>
                <a:latin typeface="-apple-system"/>
                <a:cs typeface="B Nazanin" panose="00000400000000000000" pitchFamily="2" charset="-78"/>
              </a:rPr>
              <a:t>provider</a:t>
            </a:r>
            <a:r>
              <a:rPr lang="fa-IR" sz="2400" dirty="0">
                <a:solidFill>
                  <a:schemeClr val="tx1"/>
                </a:solidFill>
                <a:latin typeface="-apple-system"/>
                <a:cs typeface="B Nazanin" panose="00000400000000000000" pitchFamily="2" charset="-78"/>
              </a:rPr>
              <a:t> </a:t>
            </a:r>
            <a:r>
              <a:rPr lang="en-US" sz="2400" dirty="0">
                <a:solidFill>
                  <a:schemeClr val="tx1"/>
                </a:solidFill>
                <a:latin typeface="-apple-system"/>
                <a:cs typeface="B Nazanin" panose="00000400000000000000" pitchFamily="2" charset="-78"/>
              </a:rPr>
              <a:t> </a:t>
            </a:r>
            <a:r>
              <a:rPr lang="fa-IR" sz="2400" dirty="0">
                <a:solidFill>
                  <a:schemeClr val="tx1"/>
                </a:solidFill>
                <a:latin typeface="-apple-system"/>
                <a:cs typeface="B Nazanin" panose="00000400000000000000" pitchFamily="2" charset="-78"/>
              </a:rPr>
              <a:t>های تصویر</a:t>
            </a:r>
          </a:p>
          <a:p>
            <a:pPr algn="r" rtl="1"/>
            <a:r>
              <a:rPr lang="fa-IR" sz="2400" dirty="0">
                <a:solidFill>
                  <a:schemeClr val="tx1"/>
                </a:solidFill>
                <a:latin typeface="-apple-system"/>
                <a:cs typeface="B Nazanin" panose="00000400000000000000" pitchFamily="2" charset="-78"/>
              </a:rPr>
              <a:t> 12: پیاده سازی پروایدر تصویری </a:t>
            </a:r>
            <a:r>
              <a:rPr lang="en-US" sz="2400" dirty="0">
                <a:solidFill>
                  <a:schemeClr val="tx1"/>
                </a:solidFill>
                <a:latin typeface="-apple-system"/>
                <a:cs typeface="B Nazanin" panose="00000400000000000000" pitchFamily="2" charset="-78"/>
              </a:rPr>
              <a:t>Pollinations</a:t>
            </a:r>
          </a:p>
          <a:p>
            <a:pPr algn="r" rtl="1"/>
            <a:r>
              <a:rPr lang="en-US" sz="2400" dirty="0">
                <a:solidFill>
                  <a:schemeClr val="tx1"/>
                </a:solidFill>
                <a:latin typeface="-apple-system"/>
                <a:cs typeface="B Nazanin" panose="00000400000000000000" pitchFamily="2" charset="-78"/>
              </a:rPr>
              <a:t> </a:t>
            </a:r>
            <a:r>
              <a:rPr lang="fa-IR" sz="2400" dirty="0">
                <a:solidFill>
                  <a:schemeClr val="tx1"/>
                </a:solidFill>
                <a:latin typeface="-apple-system"/>
                <a:cs typeface="B Nazanin" panose="00000400000000000000" pitchFamily="2" charset="-78"/>
              </a:rPr>
              <a:t>13</a:t>
            </a:r>
            <a:r>
              <a:rPr lang="en-US" sz="2400" dirty="0">
                <a:solidFill>
                  <a:schemeClr val="tx1"/>
                </a:solidFill>
                <a:latin typeface="-apple-system"/>
                <a:cs typeface="B Nazanin" panose="00000400000000000000" pitchFamily="2" charset="-78"/>
              </a:rPr>
              <a:t>: </a:t>
            </a:r>
            <a:r>
              <a:rPr lang="fa-IR" sz="2400" dirty="0">
                <a:solidFill>
                  <a:schemeClr val="tx1"/>
                </a:solidFill>
                <a:latin typeface="-apple-system"/>
                <a:cs typeface="B Nazanin" panose="00000400000000000000" pitchFamily="2" charset="-78"/>
              </a:rPr>
              <a:t>اضافه کردن پروایدر تصویری استفاده از تصویر منابع اخبار</a:t>
            </a:r>
          </a:p>
          <a:p>
            <a:pPr algn="r" rtl="1"/>
            <a:r>
              <a:rPr lang="fa-IR" sz="2400" dirty="0">
                <a:solidFill>
                  <a:schemeClr val="tx1"/>
                </a:solidFill>
                <a:latin typeface="-apple-system"/>
                <a:cs typeface="B Nazanin" panose="00000400000000000000" pitchFamily="2" charset="-78"/>
              </a:rPr>
              <a:t>14: انتشار مقاله در وردپرس بصورت پیش نویس و در تلگرام به کانال خصوصی برای تایید</a:t>
            </a:r>
          </a:p>
        </p:txBody>
      </p:sp>
      <p:sp>
        <p:nvSpPr>
          <p:cNvPr id="5" name="TextBox 4">
            <a:extLst>
              <a:ext uri="{FF2B5EF4-FFF2-40B4-BE49-F238E27FC236}">
                <a16:creationId xmlns:a16="http://schemas.microsoft.com/office/drawing/2014/main" id="{ED41AF60-0FE4-48BD-A48C-94DFAF3BAA55}"/>
              </a:ext>
            </a:extLst>
          </p:cNvPr>
          <p:cNvSpPr txBox="1"/>
          <p:nvPr/>
        </p:nvSpPr>
        <p:spPr>
          <a:xfrm>
            <a:off x="243840" y="751840"/>
            <a:ext cx="528320" cy="369332"/>
          </a:xfrm>
          <a:prstGeom prst="rect">
            <a:avLst/>
          </a:prstGeom>
          <a:noFill/>
        </p:spPr>
        <p:txBody>
          <a:bodyPr wrap="square" rtlCol="0">
            <a:spAutoFit/>
          </a:bodyPr>
          <a:lstStyle/>
          <a:p>
            <a:pPr algn="r" rtl="1"/>
            <a:r>
              <a:rPr lang="en-US" dirty="0">
                <a:solidFill>
                  <a:schemeClr val="bg1"/>
                </a:solidFill>
                <a:cs typeface="B Nazanin" panose="00000400000000000000" pitchFamily="2" charset="-78"/>
              </a:rPr>
              <a:t>7</a:t>
            </a:r>
          </a:p>
        </p:txBody>
      </p:sp>
    </p:spTree>
    <p:extLst>
      <p:ext uri="{BB962C8B-B14F-4D97-AF65-F5344CB8AC3E}">
        <p14:creationId xmlns:p14="http://schemas.microsoft.com/office/powerpoint/2010/main" val="2020959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77A-F9CF-424F-84AA-D8C843F1B4C4}"/>
              </a:ext>
            </a:extLst>
          </p:cNvPr>
          <p:cNvSpPr>
            <a:spLocks noGrp="1"/>
          </p:cNvSpPr>
          <p:nvPr>
            <p:ph type="title"/>
          </p:nvPr>
        </p:nvSpPr>
        <p:spPr/>
        <p:txBody>
          <a:bodyPr/>
          <a:lstStyle/>
          <a:p>
            <a:pPr algn="r"/>
            <a:r>
              <a:rPr lang="fa-IR" b="1" i="0" dirty="0">
                <a:solidFill>
                  <a:schemeClr val="accent1"/>
                </a:solidFill>
                <a:effectLst/>
                <a:latin typeface="-apple-system"/>
                <a:cs typeface="B Nazanin" panose="00000400000000000000" pitchFamily="2" charset="-78"/>
              </a:rPr>
              <a:t>مشکلات مهم و درس‌های فنی</a:t>
            </a:r>
          </a:p>
        </p:txBody>
      </p:sp>
      <p:sp>
        <p:nvSpPr>
          <p:cNvPr id="3" name="Content Placeholder 2">
            <a:extLst>
              <a:ext uri="{FF2B5EF4-FFF2-40B4-BE49-F238E27FC236}">
                <a16:creationId xmlns:a16="http://schemas.microsoft.com/office/drawing/2014/main" id="{0619F152-B119-4B23-9A5D-EB233158E6F0}"/>
              </a:ext>
            </a:extLst>
          </p:cNvPr>
          <p:cNvSpPr>
            <a:spLocks noGrp="1"/>
          </p:cNvSpPr>
          <p:nvPr>
            <p:ph idx="1"/>
          </p:nvPr>
        </p:nvSpPr>
        <p:spPr>
          <a:xfrm>
            <a:off x="6947646" y="2133600"/>
            <a:ext cx="4556965" cy="3777622"/>
          </a:xfrm>
        </p:spPr>
        <p:txBody>
          <a:bodyPr>
            <a:normAutofit/>
          </a:bodyPr>
          <a:lstStyle/>
          <a:p>
            <a:pPr algn="just" rtl="1"/>
            <a:r>
              <a:rPr lang="en-US" sz="1600" b="0" i="0" dirty="0" err="1">
                <a:solidFill>
                  <a:schemeClr val="tx1"/>
                </a:solidFill>
                <a:effectLst/>
                <a:latin typeface="-apple-system"/>
                <a:cs typeface="B Nazanin" panose="00000400000000000000" pitchFamily="2" charset="-78"/>
              </a:rPr>
              <a:t>OpenAI</a:t>
            </a:r>
            <a:r>
              <a:rPr lang="fa-IR" sz="1600" b="0" i="0" dirty="0">
                <a:solidFill>
                  <a:schemeClr val="tx1"/>
                </a:solidFill>
                <a:effectLst/>
                <a:latin typeface="-apple-system"/>
                <a:cs typeface="B Nazanin" panose="00000400000000000000" pitchFamily="2" charset="-78"/>
              </a:rPr>
              <a:t> </a:t>
            </a:r>
            <a:r>
              <a:rPr lang="en-US" sz="1600" b="0" i="0" dirty="0">
                <a:solidFill>
                  <a:schemeClr val="tx1"/>
                </a:solidFill>
                <a:effectLst/>
                <a:latin typeface="-apple-system"/>
                <a:cs typeface="B Nazanin" panose="00000400000000000000" pitchFamily="2" charset="-78"/>
              </a:rPr>
              <a:t> API </a:t>
            </a:r>
            <a:r>
              <a:rPr lang="fa-IR" sz="1600" b="0" i="0" dirty="0">
                <a:solidFill>
                  <a:schemeClr val="tx1"/>
                </a:solidFill>
                <a:effectLst/>
                <a:latin typeface="-apple-system"/>
                <a:cs typeface="B Nazanin" panose="00000400000000000000" pitchFamily="2" charset="-78"/>
              </a:rPr>
              <a:t>با </a:t>
            </a:r>
            <a:r>
              <a:rPr lang="en-US" sz="1600" b="0" i="0" dirty="0" err="1">
                <a:solidFill>
                  <a:schemeClr val="tx1"/>
                </a:solidFill>
                <a:effectLst/>
                <a:latin typeface="-apple-system"/>
                <a:cs typeface="B Nazanin" panose="00000400000000000000" pitchFamily="2" charset="-78"/>
              </a:rPr>
              <a:t>ChatGPT</a:t>
            </a:r>
            <a:r>
              <a:rPr lang="en-US" sz="1600" b="0" i="0" dirty="0">
                <a:solidFill>
                  <a:schemeClr val="tx1"/>
                </a:solidFill>
                <a:effectLst/>
                <a:latin typeface="-apple-system"/>
                <a:cs typeface="B Nazanin" panose="00000400000000000000" pitchFamily="2" charset="-78"/>
              </a:rPr>
              <a:t> </a:t>
            </a:r>
            <a:r>
              <a:rPr lang="fa-IR" sz="1600" b="0" i="0" dirty="0">
                <a:solidFill>
                  <a:schemeClr val="tx1"/>
                </a:solidFill>
                <a:effectLst/>
                <a:latin typeface="-apple-system"/>
                <a:cs typeface="B Nazanin" panose="00000400000000000000" pitchFamily="2" charset="-78"/>
              </a:rPr>
              <a:t>رایگان یکی نیست</a:t>
            </a:r>
          </a:p>
          <a:p>
            <a:pPr algn="just" rtl="1"/>
            <a:r>
              <a:rPr lang="en-US" sz="1600" b="0" i="0" dirty="0">
                <a:solidFill>
                  <a:schemeClr val="tx1"/>
                </a:solidFill>
                <a:effectLst/>
                <a:latin typeface="-apple-system"/>
                <a:cs typeface="B Nazanin" panose="00000400000000000000" pitchFamily="2" charset="-78"/>
              </a:rPr>
              <a:t>REST</a:t>
            </a:r>
            <a:r>
              <a:rPr lang="fa-IR" sz="1600" b="0" i="0" dirty="0">
                <a:solidFill>
                  <a:schemeClr val="tx1"/>
                </a:solidFill>
                <a:effectLst/>
                <a:latin typeface="-apple-system"/>
                <a:cs typeface="B Nazanin" panose="00000400000000000000" pitchFamily="2" charset="-78"/>
              </a:rPr>
              <a:t> </a:t>
            </a:r>
            <a:r>
              <a:rPr lang="en-US" sz="1600" b="0" i="0" dirty="0">
                <a:solidFill>
                  <a:schemeClr val="tx1"/>
                </a:solidFill>
                <a:effectLst/>
                <a:latin typeface="-apple-system"/>
                <a:cs typeface="B Nazanin" panose="00000400000000000000" pitchFamily="2" charset="-78"/>
              </a:rPr>
              <a:t> API </a:t>
            </a:r>
            <a:r>
              <a:rPr lang="fa-IR" sz="1600" b="0" i="0" dirty="0">
                <a:solidFill>
                  <a:schemeClr val="tx1"/>
                </a:solidFill>
                <a:effectLst/>
                <a:latin typeface="-apple-system"/>
                <a:cs typeface="B Nazanin" panose="00000400000000000000" pitchFamily="2" charset="-78"/>
              </a:rPr>
              <a:t>وردپرس به جزئیات </a:t>
            </a:r>
            <a:r>
              <a:rPr lang="en-US" sz="1600" b="0" i="0" dirty="0">
                <a:solidFill>
                  <a:schemeClr val="tx1"/>
                </a:solidFill>
                <a:effectLst/>
                <a:latin typeface="-apple-system"/>
                <a:cs typeface="B Nazanin" panose="00000400000000000000" pitchFamily="2" charset="-78"/>
              </a:rPr>
              <a:t>header</a:t>
            </a:r>
            <a:r>
              <a:rPr lang="fa-IR" sz="1600" b="0" i="0" dirty="0">
                <a:solidFill>
                  <a:schemeClr val="tx1"/>
                </a:solidFill>
                <a:effectLst/>
                <a:latin typeface="-apple-system"/>
                <a:cs typeface="B Nazanin" panose="00000400000000000000" pitchFamily="2" charset="-78"/>
              </a:rPr>
              <a:t> </a:t>
            </a:r>
            <a:r>
              <a:rPr lang="en-US" sz="1600" b="0" i="0" dirty="0">
                <a:solidFill>
                  <a:schemeClr val="tx1"/>
                </a:solidFill>
                <a:effectLst/>
                <a:latin typeface="-apple-system"/>
                <a:cs typeface="B Nazanin" panose="00000400000000000000" pitchFamily="2" charset="-78"/>
              </a:rPr>
              <a:t> </a:t>
            </a:r>
            <a:r>
              <a:rPr lang="fa-IR" sz="1600" b="0" i="0" dirty="0">
                <a:solidFill>
                  <a:schemeClr val="tx1"/>
                </a:solidFill>
                <a:effectLst/>
                <a:latin typeface="-apple-system"/>
                <a:cs typeface="B Nazanin" panose="00000400000000000000" pitchFamily="2" charset="-78"/>
              </a:rPr>
              <a:t>حساس است</a:t>
            </a:r>
          </a:p>
          <a:p>
            <a:pPr algn="just" rtl="1"/>
            <a:r>
              <a:rPr lang="fa-IR" sz="1600" b="0" i="0" dirty="0">
                <a:solidFill>
                  <a:schemeClr val="tx1"/>
                </a:solidFill>
                <a:effectLst/>
                <a:latin typeface="-apple-system"/>
                <a:cs typeface="B Nazanin" panose="00000400000000000000" pitchFamily="2" charset="-78"/>
              </a:rPr>
              <a:t>خطاهای </a:t>
            </a:r>
            <a:r>
              <a:rPr lang="en-US" sz="1600" b="0" i="0" dirty="0">
                <a:solidFill>
                  <a:schemeClr val="tx1"/>
                </a:solidFill>
                <a:effectLst/>
                <a:latin typeface="-apple-system"/>
                <a:cs typeface="B Nazanin" panose="00000400000000000000" pitchFamily="2" charset="-78"/>
              </a:rPr>
              <a:t>WordPress</a:t>
            </a:r>
            <a:r>
              <a:rPr lang="fa-IR" sz="1600" b="0" i="0" dirty="0">
                <a:solidFill>
                  <a:schemeClr val="tx1"/>
                </a:solidFill>
                <a:effectLst/>
                <a:latin typeface="-apple-system"/>
                <a:cs typeface="B Nazanin" panose="00000400000000000000" pitchFamily="2" charset="-78"/>
              </a:rPr>
              <a:t> </a:t>
            </a:r>
            <a:r>
              <a:rPr lang="en-US" sz="1600" b="0" i="0" dirty="0">
                <a:solidFill>
                  <a:schemeClr val="tx1"/>
                </a:solidFill>
                <a:effectLst/>
                <a:latin typeface="-apple-system"/>
                <a:cs typeface="B Nazanin" panose="00000400000000000000" pitchFamily="2" charset="-78"/>
              </a:rPr>
              <a:t> permission </a:t>
            </a:r>
            <a:r>
              <a:rPr lang="fa-IR" sz="1600" b="0" i="0" dirty="0">
                <a:solidFill>
                  <a:schemeClr val="tx1"/>
                </a:solidFill>
                <a:effectLst/>
                <a:latin typeface="-apple-system"/>
                <a:cs typeface="B Nazanin" panose="00000400000000000000" pitchFamily="2" charset="-78"/>
              </a:rPr>
              <a:t>همیشه از </a:t>
            </a:r>
            <a:r>
              <a:rPr lang="en-US" sz="1600" b="0" i="0" dirty="0">
                <a:solidFill>
                  <a:schemeClr val="tx1"/>
                </a:solidFill>
                <a:effectLst/>
                <a:latin typeface="-apple-system"/>
                <a:cs typeface="B Nazanin" panose="00000400000000000000" pitchFamily="2" charset="-78"/>
              </a:rPr>
              <a:t>password </a:t>
            </a:r>
            <a:r>
              <a:rPr lang="fa-IR" sz="1600" b="0" i="0" dirty="0">
                <a:solidFill>
                  <a:schemeClr val="tx1"/>
                </a:solidFill>
                <a:effectLst/>
                <a:latin typeface="-apple-system"/>
                <a:cs typeface="B Nazanin" panose="00000400000000000000" pitchFamily="2" charset="-78"/>
              </a:rPr>
              <a:t>نیستند</a:t>
            </a:r>
          </a:p>
          <a:p>
            <a:pPr algn="just" rtl="1"/>
            <a:r>
              <a:rPr lang="en-US" sz="1600" b="0" i="0" dirty="0">
                <a:solidFill>
                  <a:schemeClr val="tx1"/>
                </a:solidFill>
                <a:effectLst/>
                <a:latin typeface="-apple-system"/>
                <a:cs typeface="B Nazanin" panose="00000400000000000000" pitchFamily="2" charset="-78"/>
              </a:rPr>
              <a:t>Telegram bot </a:t>
            </a:r>
            <a:r>
              <a:rPr lang="fa-IR" sz="1600" b="0" i="0" dirty="0">
                <a:solidFill>
                  <a:schemeClr val="tx1"/>
                </a:solidFill>
                <a:effectLst/>
                <a:latin typeface="-apple-system"/>
                <a:cs typeface="B Nazanin" panose="00000400000000000000" pitchFamily="2" charset="-78"/>
              </a:rPr>
              <a:t>باید عضو </a:t>
            </a:r>
            <a:r>
              <a:rPr lang="en-US" sz="1600" b="0" i="0" dirty="0">
                <a:solidFill>
                  <a:schemeClr val="tx1"/>
                </a:solidFill>
                <a:effectLst/>
                <a:latin typeface="-apple-system"/>
                <a:cs typeface="B Nazanin" panose="00000400000000000000" pitchFamily="2" charset="-78"/>
              </a:rPr>
              <a:t>channel</a:t>
            </a:r>
            <a:r>
              <a:rPr lang="fa-IR" sz="1600" b="0" i="0" dirty="0">
                <a:solidFill>
                  <a:schemeClr val="tx1"/>
                </a:solidFill>
                <a:effectLst/>
                <a:latin typeface="-apple-system"/>
                <a:cs typeface="B Nazanin" panose="00000400000000000000" pitchFamily="2" charset="-78"/>
              </a:rPr>
              <a:t> </a:t>
            </a:r>
            <a:r>
              <a:rPr lang="en-US" sz="1600" b="0" i="0" dirty="0">
                <a:solidFill>
                  <a:schemeClr val="tx1"/>
                </a:solidFill>
                <a:effectLst/>
                <a:latin typeface="-apple-system"/>
                <a:cs typeface="B Nazanin" panose="00000400000000000000" pitchFamily="2" charset="-78"/>
              </a:rPr>
              <a:t> </a:t>
            </a:r>
            <a:r>
              <a:rPr lang="fa-IR" sz="1600" b="0" i="0" dirty="0">
                <a:solidFill>
                  <a:schemeClr val="tx1"/>
                </a:solidFill>
                <a:effectLst/>
                <a:latin typeface="-apple-system"/>
                <a:cs typeface="B Nazanin" panose="00000400000000000000" pitchFamily="2" charset="-78"/>
              </a:rPr>
              <a:t>باشد</a:t>
            </a:r>
          </a:p>
          <a:p>
            <a:pPr algn="just" rtl="1"/>
            <a:r>
              <a:rPr lang="en-US" sz="1600" b="0" i="0" dirty="0" err="1">
                <a:solidFill>
                  <a:schemeClr val="tx1"/>
                </a:solidFill>
                <a:effectLst/>
                <a:latin typeface="-apple-system"/>
                <a:cs typeface="B Nazanin" panose="00000400000000000000" pitchFamily="2" charset="-78"/>
              </a:rPr>
              <a:t>Groq</a:t>
            </a:r>
            <a:r>
              <a:rPr lang="en-US" sz="1600" b="0" i="0" dirty="0">
                <a:solidFill>
                  <a:schemeClr val="tx1"/>
                </a:solidFill>
                <a:effectLst/>
                <a:latin typeface="-apple-system"/>
                <a:cs typeface="B Nazanin" panose="00000400000000000000" pitchFamily="2" charset="-78"/>
              </a:rPr>
              <a:t> Compound </a:t>
            </a:r>
            <a:r>
              <a:rPr lang="fa-IR" sz="1600" b="0" i="0" dirty="0">
                <a:solidFill>
                  <a:schemeClr val="tx1"/>
                </a:solidFill>
                <a:effectLst/>
                <a:latin typeface="-apple-system"/>
                <a:cs typeface="B Nazanin" panose="00000400000000000000" pitchFamily="2" charset="-78"/>
              </a:rPr>
              <a:t>برای کار ترکیبی </a:t>
            </a:r>
            <a:r>
              <a:rPr lang="en-US" sz="1600" b="0" i="0" dirty="0">
                <a:solidFill>
                  <a:schemeClr val="tx1"/>
                </a:solidFill>
                <a:effectLst/>
                <a:latin typeface="-apple-system"/>
                <a:cs typeface="B Nazanin" panose="00000400000000000000" pitchFamily="2" charset="-78"/>
              </a:rPr>
              <a:t>research + article </a:t>
            </a:r>
            <a:r>
              <a:rPr lang="fa-IR" sz="1600" b="0" i="0" dirty="0">
                <a:solidFill>
                  <a:schemeClr val="tx1"/>
                </a:solidFill>
                <a:effectLst/>
                <a:latin typeface="-apple-system"/>
                <a:cs typeface="B Nazanin" panose="00000400000000000000" pitchFamily="2" charset="-78"/>
              </a:rPr>
              <a:t>مناسب نبود</a:t>
            </a:r>
          </a:p>
          <a:p>
            <a:pPr algn="just" rtl="1"/>
            <a:r>
              <a:rPr lang="fa-IR" sz="1600" b="0" i="0" dirty="0">
                <a:solidFill>
                  <a:schemeClr val="tx1"/>
                </a:solidFill>
                <a:effectLst/>
                <a:latin typeface="-apple-system"/>
                <a:cs typeface="B Nazanin" panose="00000400000000000000" pitchFamily="2" charset="-78"/>
              </a:rPr>
              <a:t>مدل‌ها </a:t>
            </a:r>
            <a:r>
              <a:rPr lang="en-US" sz="1600" b="0" i="0" dirty="0">
                <a:solidFill>
                  <a:schemeClr val="tx1"/>
                </a:solidFill>
                <a:effectLst/>
                <a:latin typeface="-apple-system"/>
                <a:cs typeface="B Nazanin" panose="00000400000000000000" pitchFamily="2" charset="-78"/>
              </a:rPr>
              <a:t>prompt</a:t>
            </a:r>
            <a:r>
              <a:rPr lang="fa-IR" sz="1600" b="0" i="0" dirty="0">
                <a:solidFill>
                  <a:schemeClr val="tx1"/>
                </a:solidFill>
                <a:effectLst/>
                <a:latin typeface="-apple-system"/>
                <a:cs typeface="B Nazanin" panose="00000400000000000000" pitchFamily="2" charset="-78"/>
              </a:rPr>
              <a:t> </a:t>
            </a:r>
            <a:r>
              <a:rPr lang="en-US" sz="1600" b="0" i="0" dirty="0">
                <a:solidFill>
                  <a:schemeClr val="tx1"/>
                </a:solidFill>
                <a:effectLst/>
                <a:latin typeface="-apple-system"/>
                <a:cs typeface="B Nazanin" panose="00000400000000000000" pitchFamily="2" charset="-78"/>
              </a:rPr>
              <a:t> </a:t>
            </a:r>
            <a:r>
              <a:rPr lang="fa-IR" sz="1600" b="0" i="0" dirty="0">
                <a:solidFill>
                  <a:schemeClr val="tx1"/>
                </a:solidFill>
                <a:effectLst/>
                <a:latin typeface="-apple-system"/>
                <a:cs typeface="B Nazanin" panose="00000400000000000000" pitchFamily="2" charset="-78"/>
              </a:rPr>
              <a:t>را یکسان نمی‌فهمند</a:t>
            </a:r>
          </a:p>
        </p:txBody>
      </p:sp>
      <p:sp>
        <p:nvSpPr>
          <p:cNvPr id="4" name="Content Placeholder 2">
            <a:extLst>
              <a:ext uri="{FF2B5EF4-FFF2-40B4-BE49-F238E27FC236}">
                <a16:creationId xmlns:a16="http://schemas.microsoft.com/office/drawing/2014/main" id="{0CC0691C-6AAB-4B14-8055-863167469416}"/>
              </a:ext>
            </a:extLst>
          </p:cNvPr>
          <p:cNvSpPr txBox="1">
            <a:spLocks/>
          </p:cNvSpPr>
          <p:nvPr/>
        </p:nvSpPr>
        <p:spPr>
          <a:xfrm>
            <a:off x="2303928" y="2133600"/>
            <a:ext cx="4556965"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just" rtl="1"/>
            <a:r>
              <a:rPr lang="fa-IR" sz="2000" b="0" i="0" dirty="0">
                <a:solidFill>
                  <a:schemeClr val="tx1"/>
                </a:solidFill>
                <a:effectLst/>
                <a:latin typeface="-apple-system"/>
                <a:cs typeface="B Nazanin" panose="00000400000000000000" pitchFamily="2" charset="-78"/>
              </a:rPr>
              <a:t>چند خبر نامرتبط، مقاله را مصنوعی می‌کند</a:t>
            </a:r>
          </a:p>
          <a:p>
            <a:pPr algn="just" rtl="1"/>
            <a:r>
              <a:rPr lang="fa-IR" sz="2000" b="0" i="0" dirty="0">
                <a:solidFill>
                  <a:schemeClr val="tx1"/>
                </a:solidFill>
                <a:effectLst/>
                <a:latin typeface="-apple-system"/>
                <a:cs typeface="B Nazanin" panose="00000400000000000000" pitchFamily="2" charset="-78"/>
              </a:rPr>
              <a:t>شرط تاریخ می‌تواند به عنوان مقاله نشت کند</a:t>
            </a:r>
          </a:p>
          <a:p>
            <a:pPr algn="just" rtl="1"/>
            <a:r>
              <a:rPr lang="fa-IR" sz="2000" b="0" i="0" dirty="0">
                <a:solidFill>
                  <a:schemeClr val="tx1"/>
                </a:solidFill>
                <a:effectLst/>
                <a:latin typeface="-apple-system"/>
                <a:cs typeface="B Nazanin" panose="00000400000000000000" pitchFamily="2" charset="-78"/>
              </a:rPr>
              <a:t>بدون تاریخچه، جلوگیری کامل از تکرار ممکن نیست</a:t>
            </a:r>
          </a:p>
          <a:p>
            <a:pPr algn="just" rtl="1"/>
            <a:r>
              <a:rPr lang="fa-IR" sz="2000" b="0" i="0" dirty="0">
                <a:solidFill>
                  <a:schemeClr val="tx1"/>
                </a:solidFill>
                <a:effectLst/>
                <a:latin typeface="-apple-system"/>
                <a:cs typeface="B Nazanin" panose="00000400000000000000" pitchFamily="2" charset="-78"/>
              </a:rPr>
              <a:t>تصویر منبع پیدا می‌شود، اما مجوز استفاده تضمین نمی‌شود</a:t>
            </a:r>
          </a:p>
          <a:p>
            <a:pPr algn="just" rtl="1"/>
            <a:r>
              <a:rPr lang="fa-IR" sz="2000" b="0" i="0" dirty="0">
                <a:solidFill>
                  <a:schemeClr val="tx1"/>
                </a:solidFill>
                <a:effectLst/>
                <a:latin typeface="-apple-system"/>
                <a:cs typeface="B Nazanin" panose="00000400000000000000" pitchFamily="2" charset="-78"/>
              </a:rPr>
              <a:t>شکست تصویر نباید کل زنجیره محتوا را متوقف کند</a:t>
            </a:r>
          </a:p>
        </p:txBody>
      </p:sp>
      <p:sp>
        <p:nvSpPr>
          <p:cNvPr id="5" name="TextBox 4">
            <a:extLst>
              <a:ext uri="{FF2B5EF4-FFF2-40B4-BE49-F238E27FC236}">
                <a16:creationId xmlns:a16="http://schemas.microsoft.com/office/drawing/2014/main" id="{4FEF697D-10C4-42ED-81D2-422AB6649F41}"/>
              </a:ext>
            </a:extLst>
          </p:cNvPr>
          <p:cNvSpPr txBox="1"/>
          <p:nvPr/>
        </p:nvSpPr>
        <p:spPr>
          <a:xfrm>
            <a:off x="243840" y="751840"/>
            <a:ext cx="528320" cy="369332"/>
          </a:xfrm>
          <a:prstGeom prst="rect">
            <a:avLst/>
          </a:prstGeom>
          <a:noFill/>
        </p:spPr>
        <p:txBody>
          <a:bodyPr wrap="square" rtlCol="0">
            <a:spAutoFit/>
          </a:bodyPr>
          <a:lstStyle/>
          <a:p>
            <a:pPr algn="r" rtl="1"/>
            <a:r>
              <a:rPr lang="en-US" dirty="0">
                <a:solidFill>
                  <a:schemeClr val="bg1"/>
                </a:solidFill>
                <a:cs typeface="B Nazanin" panose="00000400000000000000" pitchFamily="2" charset="-78"/>
              </a:rPr>
              <a:t>8</a:t>
            </a:r>
          </a:p>
        </p:txBody>
      </p:sp>
    </p:spTree>
    <p:extLst>
      <p:ext uri="{BB962C8B-B14F-4D97-AF65-F5344CB8AC3E}">
        <p14:creationId xmlns:p14="http://schemas.microsoft.com/office/powerpoint/2010/main" val="893930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77A-F9CF-424F-84AA-D8C843F1B4C4}"/>
              </a:ext>
            </a:extLst>
          </p:cNvPr>
          <p:cNvSpPr>
            <a:spLocks noGrp="1"/>
          </p:cNvSpPr>
          <p:nvPr>
            <p:ph type="title"/>
          </p:nvPr>
        </p:nvSpPr>
        <p:spPr/>
        <p:txBody>
          <a:bodyPr/>
          <a:lstStyle/>
          <a:p>
            <a:pPr algn="r"/>
            <a:r>
              <a:rPr lang="fa-IR" b="1" i="0" dirty="0">
                <a:solidFill>
                  <a:schemeClr val="accent1"/>
                </a:solidFill>
                <a:effectLst/>
                <a:latin typeface="-apple-system"/>
                <a:cs typeface="B Nazanin" panose="00000400000000000000" pitchFamily="2" charset="-78"/>
              </a:rPr>
              <a:t>اشکالات فعلی</a:t>
            </a:r>
          </a:p>
        </p:txBody>
      </p:sp>
      <p:sp>
        <p:nvSpPr>
          <p:cNvPr id="3" name="Content Placeholder 2">
            <a:extLst>
              <a:ext uri="{FF2B5EF4-FFF2-40B4-BE49-F238E27FC236}">
                <a16:creationId xmlns:a16="http://schemas.microsoft.com/office/drawing/2014/main" id="{0619F152-B119-4B23-9A5D-EB233158E6F0}"/>
              </a:ext>
            </a:extLst>
          </p:cNvPr>
          <p:cNvSpPr>
            <a:spLocks noGrp="1"/>
          </p:cNvSpPr>
          <p:nvPr>
            <p:ph idx="1"/>
          </p:nvPr>
        </p:nvSpPr>
        <p:spPr>
          <a:xfrm>
            <a:off x="2339788" y="2133600"/>
            <a:ext cx="9164824" cy="3777622"/>
          </a:xfrm>
        </p:spPr>
        <p:txBody>
          <a:bodyPr>
            <a:normAutofit/>
          </a:bodyPr>
          <a:lstStyle/>
          <a:p>
            <a:pPr algn="just" rtl="1"/>
            <a:r>
              <a:rPr lang="fa-IR" sz="2000" b="0" i="0" dirty="0">
                <a:solidFill>
                  <a:schemeClr val="tx1"/>
                </a:solidFill>
                <a:effectLst/>
                <a:latin typeface="-apple-system"/>
                <a:cs typeface="B Nazanin" panose="00000400000000000000" pitchFamily="2" charset="-78"/>
              </a:rPr>
              <a:t>دیتابیس وجود ندارد؛ بنابراین تاریخچه مقاله‌ها، جلوگیری از تکرار، </a:t>
            </a:r>
            <a:r>
              <a:rPr lang="en-US" sz="2000" b="0" i="0" dirty="0">
                <a:solidFill>
                  <a:schemeClr val="tx1"/>
                </a:solidFill>
                <a:effectLst/>
                <a:latin typeface="-apple-system"/>
                <a:cs typeface="B Nazanin" panose="00000400000000000000" pitchFamily="2" charset="-78"/>
              </a:rPr>
              <a:t>audit </a:t>
            </a:r>
            <a:r>
              <a:rPr lang="fa-IR" sz="2000" b="0" i="0" dirty="0">
                <a:solidFill>
                  <a:schemeClr val="tx1"/>
                </a:solidFill>
                <a:effectLst/>
                <a:latin typeface="-apple-system"/>
                <a:cs typeface="B Nazanin" panose="00000400000000000000" pitchFamily="2" charset="-78"/>
              </a:rPr>
              <a:t>و </a:t>
            </a:r>
            <a:r>
              <a:rPr lang="en-US" sz="2000" b="0" i="0" dirty="0">
                <a:solidFill>
                  <a:schemeClr val="tx1"/>
                </a:solidFill>
                <a:effectLst/>
                <a:latin typeface="-apple-system"/>
                <a:cs typeface="B Nazanin" panose="00000400000000000000" pitchFamily="2" charset="-78"/>
              </a:rPr>
              <a:t>retry </a:t>
            </a:r>
            <a:r>
              <a:rPr lang="fa-IR" sz="2000" b="0" i="0" dirty="0">
                <a:solidFill>
                  <a:schemeClr val="tx1"/>
                </a:solidFill>
                <a:effectLst/>
                <a:latin typeface="-apple-system"/>
                <a:cs typeface="B Nazanin" panose="00000400000000000000" pitchFamily="2" charset="-78"/>
              </a:rPr>
              <a:t>پایدار نداریم.</a:t>
            </a:r>
          </a:p>
          <a:p>
            <a:pPr algn="just" rtl="1"/>
            <a:r>
              <a:rPr lang="fa-IR" sz="2000" b="0" i="0" strike="sngStrike" dirty="0">
                <a:solidFill>
                  <a:schemeClr val="tx1"/>
                </a:solidFill>
                <a:effectLst/>
                <a:latin typeface="-apple-system"/>
                <a:cs typeface="B Nazanin" panose="00000400000000000000" pitchFamily="2" charset="-78"/>
              </a:rPr>
              <a:t>تأیید انسانی قبل از انتشار وجود ندارد.</a:t>
            </a:r>
          </a:p>
          <a:p>
            <a:pPr algn="just" rtl="1"/>
            <a:r>
              <a:rPr lang="en-US" sz="2000" b="0" i="0" dirty="0">
                <a:solidFill>
                  <a:schemeClr val="tx1"/>
                </a:solidFill>
                <a:effectLst/>
                <a:latin typeface="-apple-system"/>
                <a:cs typeface="B Nazanin" panose="00000400000000000000" pitchFamily="2" charset="-78"/>
              </a:rPr>
              <a:t>queue </a:t>
            </a:r>
            <a:r>
              <a:rPr lang="fa-IR" sz="2000" b="0" i="0" dirty="0">
                <a:solidFill>
                  <a:schemeClr val="tx1"/>
                </a:solidFill>
                <a:effectLst/>
                <a:latin typeface="-apple-system"/>
                <a:cs typeface="B Nazanin" panose="00000400000000000000" pitchFamily="2" charset="-78"/>
              </a:rPr>
              <a:t>یا </a:t>
            </a:r>
            <a:r>
              <a:rPr lang="en-US" sz="2000" b="0" i="0" dirty="0">
                <a:solidFill>
                  <a:schemeClr val="tx1"/>
                </a:solidFill>
                <a:effectLst/>
                <a:latin typeface="-apple-system"/>
                <a:cs typeface="B Nazanin" panose="00000400000000000000" pitchFamily="2" charset="-78"/>
              </a:rPr>
              <a:t>job history </a:t>
            </a:r>
            <a:r>
              <a:rPr lang="fa-IR" sz="2000" b="0" i="0" dirty="0">
                <a:solidFill>
                  <a:schemeClr val="tx1"/>
                </a:solidFill>
                <a:effectLst/>
                <a:latin typeface="-apple-system"/>
                <a:cs typeface="B Nazanin" panose="00000400000000000000" pitchFamily="2" charset="-78"/>
              </a:rPr>
              <a:t>وجود ندارد.</a:t>
            </a:r>
          </a:p>
          <a:p>
            <a:pPr algn="just" rtl="1"/>
            <a:r>
              <a:rPr lang="fa-IR" sz="2000" b="0" i="0" dirty="0">
                <a:solidFill>
                  <a:schemeClr val="tx1"/>
                </a:solidFill>
                <a:effectLst/>
                <a:latin typeface="-apple-system"/>
                <a:cs typeface="B Nazanin" panose="00000400000000000000" pitchFamily="2" charset="-78"/>
              </a:rPr>
              <a:t>مانیتورینگ </a:t>
            </a:r>
            <a:r>
              <a:rPr lang="en-US" sz="2000" b="0" i="0" dirty="0">
                <a:solidFill>
                  <a:schemeClr val="tx1"/>
                </a:solidFill>
                <a:effectLst/>
                <a:latin typeface="-apple-system"/>
                <a:cs typeface="B Nazanin" panose="00000400000000000000" pitchFamily="2" charset="-78"/>
              </a:rPr>
              <a:t>production </a:t>
            </a:r>
            <a:r>
              <a:rPr lang="fa-IR" sz="2000" b="0" i="0" dirty="0">
                <a:solidFill>
                  <a:schemeClr val="tx1"/>
                </a:solidFill>
                <a:effectLst/>
                <a:latin typeface="-apple-system"/>
                <a:cs typeface="B Nazanin" panose="00000400000000000000" pitchFamily="2" charset="-78"/>
              </a:rPr>
              <a:t>هنوز پایه‌ای است و به </a:t>
            </a:r>
            <a:r>
              <a:rPr lang="en-US" sz="2000" b="0" i="0" dirty="0">
                <a:solidFill>
                  <a:schemeClr val="tx1"/>
                </a:solidFill>
                <a:effectLst/>
                <a:latin typeface="-apple-system"/>
                <a:cs typeface="B Nazanin" panose="00000400000000000000" pitchFamily="2" charset="-78"/>
              </a:rPr>
              <a:t>log </a:t>
            </a:r>
            <a:r>
              <a:rPr lang="fa-IR" sz="2000" b="0" i="0" dirty="0">
                <a:solidFill>
                  <a:schemeClr val="tx1"/>
                </a:solidFill>
                <a:effectLst/>
                <a:latin typeface="-apple-system"/>
                <a:cs typeface="B Nazanin" panose="00000400000000000000" pitchFamily="2" charset="-78"/>
              </a:rPr>
              <a:t>محدود است.</a:t>
            </a:r>
          </a:p>
          <a:p>
            <a:pPr algn="just" rtl="1"/>
            <a:r>
              <a:rPr lang="en-US" sz="2000" b="0" i="0" dirty="0">
                <a:solidFill>
                  <a:schemeClr val="tx1"/>
                </a:solidFill>
                <a:effectLst/>
                <a:latin typeface="-apple-system"/>
                <a:cs typeface="B Nazanin" panose="00000400000000000000" pitchFamily="2" charset="-78"/>
              </a:rPr>
              <a:t>prompt</a:t>
            </a:r>
            <a:r>
              <a:rPr lang="fa-IR" sz="2000" b="0" i="0" dirty="0">
                <a:solidFill>
                  <a:schemeClr val="tx1"/>
                </a:solidFill>
                <a:effectLst/>
                <a:latin typeface="-apple-system"/>
                <a:cs typeface="B Nazanin" panose="00000400000000000000" pitchFamily="2" charset="-78"/>
              </a:rPr>
              <a:t>ها هنوز نقش زیادی در کیفیت دارند و باید با داده واقعی بهینه شوند.</a:t>
            </a:r>
          </a:p>
          <a:p>
            <a:pPr algn="just" rtl="1"/>
            <a:r>
              <a:rPr lang="en-US" sz="2000" b="0" i="0" dirty="0">
                <a:solidFill>
                  <a:schemeClr val="tx1"/>
                </a:solidFill>
                <a:effectLst/>
                <a:latin typeface="-apple-system"/>
                <a:cs typeface="B Nazanin" panose="00000400000000000000" pitchFamily="2" charset="-78"/>
              </a:rPr>
              <a:t>Instagram </a:t>
            </a:r>
            <a:r>
              <a:rPr lang="fa-IR" sz="2000" b="0" i="0" dirty="0">
                <a:solidFill>
                  <a:schemeClr val="tx1"/>
                </a:solidFill>
                <a:effectLst/>
                <a:latin typeface="-apple-system"/>
                <a:cs typeface="B Nazanin" panose="00000400000000000000" pitchFamily="2" charset="-78"/>
              </a:rPr>
              <a:t>هنوز کامل‌ترین مسیر </a:t>
            </a:r>
            <a:r>
              <a:rPr lang="en-US" sz="2000" b="0" i="0" dirty="0">
                <a:solidFill>
                  <a:schemeClr val="tx1"/>
                </a:solidFill>
                <a:effectLst/>
                <a:latin typeface="-apple-system"/>
                <a:cs typeface="B Nazanin" panose="00000400000000000000" pitchFamily="2" charset="-78"/>
              </a:rPr>
              <a:t>production </a:t>
            </a:r>
            <a:r>
              <a:rPr lang="fa-IR" sz="2000" b="0" i="0" dirty="0">
                <a:solidFill>
                  <a:schemeClr val="tx1"/>
                </a:solidFill>
                <a:effectLst/>
                <a:latin typeface="-apple-system"/>
                <a:cs typeface="B Nazanin" panose="00000400000000000000" pitchFamily="2" charset="-78"/>
              </a:rPr>
              <a:t>نیست، چون به تصویر و تنظیمات </a:t>
            </a:r>
            <a:r>
              <a:rPr lang="en-US" sz="2000" b="0" i="0" dirty="0">
                <a:solidFill>
                  <a:schemeClr val="tx1"/>
                </a:solidFill>
                <a:effectLst/>
                <a:latin typeface="-apple-system"/>
                <a:cs typeface="B Nazanin" panose="00000400000000000000" pitchFamily="2" charset="-78"/>
              </a:rPr>
              <a:t>Meta </a:t>
            </a:r>
            <a:r>
              <a:rPr lang="fa-IR" sz="2000" b="0" i="0" dirty="0">
                <a:solidFill>
                  <a:schemeClr val="tx1"/>
                </a:solidFill>
                <a:effectLst/>
                <a:latin typeface="-apple-system"/>
                <a:cs typeface="B Nazanin" panose="00000400000000000000" pitchFamily="2" charset="-78"/>
              </a:rPr>
              <a:t>وابسته است.</a:t>
            </a:r>
          </a:p>
          <a:p>
            <a:pPr algn="just" rtl="1"/>
            <a:r>
              <a:rPr lang="en-US" sz="2000" b="0" i="0" dirty="0">
                <a:solidFill>
                  <a:schemeClr val="tx1"/>
                </a:solidFill>
                <a:effectLst/>
                <a:latin typeface="-apple-system"/>
                <a:cs typeface="B Nazanin" panose="00000400000000000000" pitchFamily="2" charset="-78"/>
              </a:rPr>
              <a:t>SEO </a:t>
            </a:r>
            <a:r>
              <a:rPr lang="fa-IR" sz="2000" b="0" i="0" dirty="0">
                <a:solidFill>
                  <a:schemeClr val="tx1"/>
                </a:solidFill>
                <a:effectLst/>
                <a:latin typeface="-apple-system"/>
                <a:cs typeface="B Nazanin" panose="00000400000000000000" pitchFamily="2" charset="-78"/>
              </a:rPr>
              <a:t>متادیتا برای بعضی </a:t>
            </a:r>
            <a:r>
              <a:rPr lang="en-US" sz="2000" b="0" i="0" dirty="0">
                <a:solidFill>
                  <a:schemeClr val="tx1"/>
                </a:solidFill>
                <a:effectLst/>
                <a:latin typeface="-apple-system"/>
                <a:cs typeface="B Nazanin" panose="00000400000000000000" pitchFamily="2" charset="-78"/>
              </a:rPr>
              <a:t>plugin</a:t>
            </a:r>
            <a:r>
              <a:rPr lang="fa-IR" sz="2000" b="0" i="0" dirty="0">
                <a:solidFill>
                  <a:schemeClr val="tx1"/>
                </a:solidFill>
                <a:effectLst/>
                <a:latin typeface="-apple-system"/>
                <a:cs typeface="B Nazanin" panose="00000400000000000000" pitchFamily="2" charset="-78"/>
              </a:rPr>
              <a:t>ها ممکن است به </a:t>
            </a:r>
            <a:r>
              <a:rPr lang="en-US" sz="2000" b="0" i="0" dirty="0">
                <a:solidFill>
                  <a:schemeClr val="tx1"/>
                </a:solidFill>
                <a:effectLst/>
                <a:latin typeface="-apple-system"/>
                <a:cs typeface="B Nazanin" panose="00000400000000000000" pitchFamily="2" charset="-78"/>
              </a:rPr>
              <a:t>register </a:t>
            </a:r>
            <a:r>
              <a:rPr lang="fa-IR" sz="2000" b="0" i="0" dirty="0">
                <a:solidFill>
                  <a:schemeClr val="tx1"/>
                </a:solidFill>
                <a:effectLst/>
                <a:latin typeface="-apple-system"/>
                <a:cs typeface="B Nazanin" panose="00000400000000000000" pitchFamily="2" charset="-78"/>
              </a:rPr>
              <a:t>کردن </a:t>
            </a:r>
            <a:r>
              <a:rPr lang="en-US" sz="2000" b="0" i="0" dirty="0">
                <a:solidFill>
                  <a:schemeClr val="tx1"/>
                </a:solidFill>
                <a:effectLst/>
                <a:latin typeface="-apple-system"/>
                <a:cs typeface="B Nazanin" panose="00000400000000000000" pitchFamily="2" charset="-78"/>
              </a:rPr>
              <a:t>meta </a:t>
            </a:r>
            <a:r>
              <a:rPr lang="fa-IR" sz="2000" b="0" i="0" dirty="0">
                <a:solidFill>
                  <a:schemeClr val="tx1"/>
                </a:solidFill>
                <a:effectLst/>
                <a:latin typeface="-apple-system"/>
                <a:cs typeface="B Nazanin" panose="00000400000000000000" pitchFamily="2" charset="-78"/>
              </a:rPr>
              <a:t>در وردپرس نیاز داشته باشد.</a:t>
            </a:r>
          </a:p>
          <a:p>
            <a:pPr algn="just" rtl="1"/>
            <a:r>
              <a:rPr lang="fa-IR" sz="2000" b="0" i="0" dirty="0">
                <a:solidFill>
                  <a:schemeClr val="tx1"/>
                </a:solidFill>
                <a:effectLst/>
                <a:latin typeface="-apple-system"/>
                <a:cs typeface="B Nazanin" panose="00000400000000000000" pitchFamily="2" charset="-78"/>
              </a:rPr>
              <a:t>تصویرهای پیدا‌شده از صفحات منبع از نظر کیفیت، تناسب و مجوز استفاده باید قبل از انتشار عمومی بازبینی شوند.</a:t>
            </a:r>
          </a:p>
        </p:txBody>
      </p:sp>
      <p:sp>
        <p:nvSpPr>
          <p:cNvPr id="5" name="TextBox 4">
            <a:extLst>
              <a:ext uri="{FF2B5EF4-FFF2-40B4-BE49-F238E27FC236}">
                <a16:creationId xmlns:a16="http://schemas.microsoft.com/office/drawing/2014/main" id="{A050C4D1-4D91-47F4-BA7B-D91E90F84C07}"/>
              </a:ext>
            </a:extLst>
          </p:cNvPr>
          <p:cNvSpPr txBox="1"/>
          <p:nvPr/>
        </p:nvSpPr>
        <p:spPr>
          <a:xfrm>
            <a:off x="243840" y="751840"/>
            <a:ext cx="528320" cy="369332"/>
          </a:xfrm>
          <a:prstGeom prst="rect">
            <a:avLst/>
          </a:prstGeom>
          <a:noFill/>
        </p:spPr>
        <p:txBody>
          <a:bodyPr wrap="square" rtlCol="0">
            <a:spAutoFit/>
          </a:bodyPr>
          <a:lstStyle/>
          <a:p>
            <a:pPr algn="r" rtl="1"/>
            <a:r>
              <a:rPr lang="en-US" dirty="0">
                <a:solidFill>
                  <a:schemeClr val="bg1"/>
                </a:solidFill>
                <a:cs typeface="B Nazanin" panose="00000400000000000000" pitchFamily="2" charset="-78"/>
              </a:rPr>
              <a:t>9</a:t>
            </a:r>
          </a:p>
        </p:txBody>
      </p:sp>
    </p:spTree>
    <p:extLst>
      <p:ext uri="{BB962C8B-B14F-4D97-AF65-F5344CB8AC3E}">
        <p14:creationId xmlns:p14="http://schemas.microsoft.com/office/powerpoint/2010/main" val="3472642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77A-F9CF-424F-84AA-D8C843F1B4C4}"/>
              </a:ext>
            </a:extLst>
          </p:cNvPr>
          <p:cNvSpPr>
            <a:spLocks noGrp="1"/>
          </p:cNvSpPr>
          <p:nvPr>
            <p:ph type="title"/>
          </p:nvPr>
        </p:nvSpPr>
        <p:spPr/>
        <p:txBody>
          <a:bodyPr/>
          <a:lstStyle/>
          <a:p>
            <a:pPr algn="r"/>
            <a:r>
              <a:rPr lang="fa-IR" b="1" dirty="0">
                <a:solidFill>
                  <a:schemeClr val="accent1"/>
                </a:solidFill>
                <a:latin typeface="-apple-system"/>
                <a:cs typeface="B Nazanin" panose="00000400000000000000" pitchFamily="2" charset="-78"/>
              </a:rPr>
              <a:t>مستند سازی ارزان و ساده</a:t>
            </a:r>
            <a:endParaRPr lang="fa-IR" b="1" i="0" dirty="0">
              <a:solidFill>
                <a:schemeClr val="accent1"/>
              </a:solidFill>
              <a:effectLst/>
              <a:latin typeface="-apple-system"/>
              <a:cs typeface="B Nazanin" panose="00000400000000000000" pitchFamily="2" charset="-78"/>
            </a:endParaRPr>
          </a:p>
        </p:txBody>
      </p:sp>
      <p:sp>
        <p:nvSpPr>
          <p:cNvPr id="3" name="Content Placeholder 2">
            <a:extLst>
              <a:ext uri="{FF2B5EF4-FFF2-40B4-BE49-F238E27FC236}">
                <a16:creationId xmlns:a16="http://schemas.microsoft.com/office/drawing/2014/main" id="{0619F152-B119-4B23-9A5D-EB233158E6F0}"/>
              </a:ext>
            </a:extLst>
          </p:cNvPr>
          <p:cNvSpPr>
            <a:spLocks noGrp="1"/>
          </p:cNvSpPr>
          <p:nvPr>
            <p:ph idx="1"/>
          </p:nvPr>
        </p:nvSpPr>
        <p:spPr>
          <a:xfrm>
            <a:off x="3119718" y="2133600"/>
            <a:ext cx="8384893" cy="3777622"/>
          </a:xfrm>
        </p:spPr>
        <p:txBody>
          <a:bodyPr>
            <a:normAutofit/>
          </a:bodyPr>
          <a:lstStyle/>
          <a:p>
            <a:pPr algn="just" rtl="1"/>
            <a:r>
              <a:rPr lang="fa-IR" sz="2000" b="0" i="0" dirty="0">
                <a:solidFill>
                  <a:schemeClr val="tx1"/>
                </a:solidFill>
                <a:effectLst/>
                <a:latin typeface="-apple-system"/>
                <a:cs typeface="B Nazanin" panose="00000400000000000000" pitchFamily="2" charset="-78"/>
              </a:rPr>
              <a:t>تمام موارد از معماری گرفته تا مسائل فنی بعلاه </a:t>
            </a:r>
            <a:r>
              <a:rPr lang="en-US" sz="2000" b="0" i="0" dirty="0">
                <a:solidFill>
                  <a:schemeClr val="tx1"/>
                </a:solidFill>
                <a:effectLst/>
                <a:latin typeface="-apple-system"/>
                <a:cs typeface="B Nazanin" panose="00000400000000000000" pitchFamily="2" charset="-78"/>
              </a:rPr>
              <a:t>roadmap</a:t>
            </a:r>
            <a:r>
              <a:rPr lang="fa-IR" sz="2000" dirty="0">
                <a:solidFill>
                  <a:schemeClr val="tx1"/>
                </a:solidFill>
                <a:latin typeface="-apple-system"/>
                <a:cs typeface="B Nazanin" panose="00000400000000000000" pitchFamily="2" charset="-78"/>
              </a:rPr>
              <a:t> داکیومنت شد</a:t>
            </a:r>
          </a:p>
          <a:p>
            <a:pPr algn="just" rtl="1"/>
            <a:r>
              <a:rPr lang="fa-IR" sz="2000" dirty="0">
                <a:solidFill>
                  <a:schemeClr val="tx1"/>
                </a:solidFill>
                <a:latin typeface="-apple-system"/>
                <a:cs typeface="B Nazanin" panose="00000400000000000000" pitchFamily="2" charset="-78"/>
              </a:rPr>
              <a:t>هم برای انتشار در سرور و هم برای کارهای تکراری آینده داکیومنت تهیه شد</a:t>
            </a:r>
          </a:p>
          <a:p>
            <a:pPr algn="just" rtl="1"/>
            <a:r>
              <a:rPr lang="fa-IR" sz="2000" b="0" i="0" dirty="0">
                <a:solidFill>
                  <a:schemeClr val="tx1"/>
                </a:solidFill>
                <a:effectLst/>
                <a:latin typeface="-apple-system"/>
                <a:cs typeface="B Nazanin" panose="00000400000000000000" pitchFamily="2" charset="-78"/>
              </a:rPr>
              <a:t>حتی کارهایی که برای دریافت کلید های </a:t>
            </a:r>
            <a:r>
              <a:rPr lang="en-US" sz="2000" b="0" i="0" dirty="0" err="1">
                <a:solidFill>
                  <a:schemeClr val="tx1"/>
                </a:solidFill>
                <a:effectLst/>
                <a:latin typeface="-apple-system"/>
                <a:cs typeface="B Nazanin" panose="00000400000000000000" pitchFamily="2" charset="-78"/>
              </a:rPr>
              <a:t>api</a:t>
            </a:r>
            <a:r>
              <a:rPr lang="fa-IR" sz="2000" b="0" i="0" dirty="0">
                <a:solidFill>
                  <a:schemeClr val="tx1"/>
                </a:solidFill>
                <a:effectLst/>
                <a:latin typeface="-apple-system"/>
                <a:cs typeface="B Nazanin" panose="00000400000000000000" pitchFamily="2" charset="-78"/>
              </a:rPr>
              <a:t> از </a:t>
            </a:r>
            <a:r>
              <a:rPr lang="en-US" sz="2000" b="0" i="0" dirty="0" err="1">
                <a:solidFill>
                  <a:schemeClr val="tx1"/>
                </a:solidFill>
                <a:effectLst/>
                <a:latin typeface="-apple-system"/>
                <a:cs typeface="B Nazanin" panose="00000400000000000000" pitchFamily="2" charset="-78"/>
              </a:rPr>
              <a:t>openai</a:t>
            </a:r>
            <a:r>
              <a:rPr lang="en-US" sz="2000" b="0" i="0" dirty="0">
                <a:solidFill>
                  <a:schemeClr val="tx1"/>
                </a:solidFill>
                <a:effectLst/>
                <a:latin typeface="-apple-system"/>
                <a:cs typeface="B Nazanin" panose="00000400000000000000" pitchFamily="2" charset="-78"/>
              </a:rPr>
              <a:t> , </a:t>
            </a:r>
            <a:r>
              <a:rPr lang="en-US" sz="2000" b="0" i="0" dirty="0" err="1">
                <a:solidFill>
                  <a:schemeClr val="tx1"/>
                </a:solidFill>
                <a:effectLst/>
                <a:latin typeface="-apple-system"/>
                <a:cs typeface="B Nazanin" panose="00000400000000000000" pitchFamily="2" charset="-78"/>
              </a:rPr>
              <a:t>wordpress</a:t>
            </a:r>
            <a:r>
              <a:rPr lang="en-US" sz="2000" b="0" i="0" dirty="0">
                <a:solidFill>
                  <a:schemeClr val="tx1"/>
                </a:solidFill>
                <a:effectLst/>
                <a:latin typeface="-apple-system"/>
                <a:cs typeface="B Nazanin" panose="00000400000000000000" pitchFamily="2" charset="-78"/>
              </a:rPr>
              <a:t>,…</a:t>
            </a:r>
            <a:r>
              <a:rPr lang="fa-IR" sz="2000" b="0" i="0" dirty="0">
                <a:solidFill>
                  <a:schemeClr val="tx1"/>
                </a:solidFill>
                <a:effectLst/>
                <a:latin typeface="-apple-system"/>
                <a:cs typeface="B Nazanin" panose="00000400000000000000" pitchFamily="2" charset="-78"/>
              </a:rPr>
              <a:t> وجود دارد هم داکیومنت شد</a:t>
            </a:r>
          </a:p>
        </p:txBody>
      </p:sp>
      <p:sp>
        <p:nvSpPr>
          <p:cNvPr id="4" name="Content Placeholder 2">
            <a:extLst>
              <a:ext uri="{FF2B5EF4-FFF2-40B4-BE49-F238E27FC236}">
                <a16:creationId xmlns:a16="http://schemas.microsoft.com/office/drawing/2014/main" id="{0CC0691C-6AAB-4B14-8055-863167469416}"/>
              </a:ext>
            </a:extLst>
          </p:cNvPr>
          <p:cNvSpPr txBox="1">
            <a:spLocks/>
          </p:cNvSpPr>
          <p:nvPr/>
        </p:nvSpPr>
        <p:spPr>
          <a:xfrm>
            <a:off x="2303928" y="2133600"/>
            <a:ext cx="4556965"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just" rtl="1"/>
            <a:endParaRPr lang="fa-IR" sz="2000" b="0" i="0" dirty="0">
              <a:solidFill>
                <a:schemeClr val="tx1"/>
              </a:solidFill>
              <a:effectLst/>
              <a:latin typeface="-apple-system"/>
              <a:cs typeface="B Nazanin" panose="00000400000000000000" pitchFamily="2" charset="-78"/>
            </a:endParaRPr>
          </a:p>
        </p:txBody>
      </p:sp>
      <p:pic>
        <p:nvPicPr>
          <p:cNvPr id="6" name="Picture 5">
            <a:extLst>
              <a:ext uri="{FF2B5EF4-FFF2-40B4-BE49-F238E27FC236}">
                <a16:creationId xmlns:a16="http://schemas.microsoft.com/office/drawing/2014/main" id="{DD1C547A-3717-4079-8865-09BC3F04B268}"/>
              </a:ext>
            </a:extLst>
          </p:cNvPr>
          <p:cNvPicPr>
            <a:picLocks noChangeAspect="1"/>
          </p:cNvPicPr>
          <p:nvPr/>
        </p:nvPicPr>
        <p:blipFill>
          <a:blip r:embed="rId2"/>
          <a:stretch>
            <a:fillRect/>
          </a:stretch>
        </p:blipFill>
        <p:spPr>
          <a:xfrm>
            <a:off x="1968720" y="3586784"/>
            <a:ext cx="5480951" cy="295645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7" name="TextBox 6">
            <a:extLst>
              <a:ext uri="{FF2B5EF4-FFF2-40B4-BE49-F238E27FC236}">
                <a16:creationId xmlns:a16="http://schemas.microsoft.com/office/drawing/2014/main" id="{FA3B59E9-61A1-41EE-894E-E13600CBE6B8}"/>
              </a:ext>
            </a:extLst>
          </p:cNvPr>
          <p:cNvSpPr txBox="1"/>
          <p:nvPr/>
        </p:nvSpPr>
        <p:spPr>
          <a:xfrm>
            <a:off x="243840" y="751840"/>
            <a:ext cx="528320" cy="369332"/>
          </a:xfrm>
          <a:prstGeom prst="rect">
            <a:avLst/>
          </a:prstGeom>
          <a:noFill/>
        </p:spPr>
        <p:txBody>
          <a:bodyPr wrap="square" rtlCol="0">
            <a:spAutoFit/>
          </a:bodyPr>
          <a:lstStyle/>
          <a:p>
            <a:pPr algn="r" rtl="1"/>
            <a:r>
              <a:rPr lang="en-US" dirty="0">
                <a:solidFill>
                  <a:schemeClr val="bg1"/>
                </a:solidFill>
                <a:cs typeface="B Nazanin" panose="00000400000000000000" pitchFamily="2" charset="-78"/>
              </a:rPr>
              <a:t>10</a:t>
            </a:r>
          </a:p>
        </p:txBody>
      </p:sp>
    </p:spTree>
    <p:extLst>
      <p:ext uri="{BB962C8B-B14F-4D97-AF65-F5344CB8AC3E}">
        <p14:creationId xmlns:p14="http://schemas.microsoft.com/office/powerpoint/2010/main" val="3108510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77A-F9CF-424F-84AA-D8C843F1B4C4}"/>
              </a:ext>
            </a:extLst>
          </p:cNvPr>
          <p:cNvSpPr>
            <a:spLocks noGrp="1"/>
          </p:cNvSpPr>
          <p:nvPr>
            <p:ph type="title"/>
          </p:nvPr>
        </p:nvSpPr>
        <p:spPr/>
        <p:txBody>
          <a:bodyPr/>
          <a:lstStyle/>
          <a:p>
            <a:pPr algn="r"/>
            <a:r>
              <a:rPr lang="fa-IR" b="1" i="0" dirty="0">
                <a:solidFill>
                  <a:schemeClr val="accent1"/>
                </a:solidFill>
                <a:effectLst/>
                <a:latin typeface="-apple-system"/>
                <a:cs typeface="B Nazanin" panose="00000400000000000000" pitchFamily="2" charset="-78"/>
              </a:rPr>
              <a:t>نمونه های انتشار</a:t>
            </a:r>
            <a:endParaRPr lang="en-US" dirty="0">
              <a:solidFill>
                <a:schemeClr val="accent1"/>
              </a:solidFill>
              <a:cs typeface="B Nazanin" panose="00000400000000000000" pitchFamily="2" charset="-78"/>
            </a:endParaRPr>
          </a:p>
        </p:txBody>
      </p:sp>
      <p:sp>
        <p:nvSpPr>
          <p:cNvPr id="3" name="Content Placeholder 2">
            <a:extLst>
              <a:ext uri="{FF2B5EF4-FFF2-40B4-BE49-F238E27FC236}">
                <a16:creationId xmlns:a16="http://schemas.microsoft.com/office/drawing/2014/main" id="{0619F152-B119-4B23-9A5D-EB233158E6F0}"/>
              </a:ext>
            </a:extLst>
          </p:cNvPr>
          <p:cNvSpPr>
            <a:spLocks noGrp="1"/>
          </p:cNvSpPr>
          <p:nvPr>
            <p:ph idx="1"/>
          </p:nvPr>
        </p:nvSpPr>
        <p:spPr/>
        <p:txBody>
          <a:bodyPr>
            <a:noAutofit/>
          </a:bodyPr>
          <a:lstStyle/>
          <a:p>
            <a:pPr algn="just" rtl="1"/>
            <a:endParaRPr lang="fa-IR" sz="1600" b="0" i="0" dirty="0">
              <a:solidFill>
                <a:schemeClr val="tx1"/>
              </a:solidFill>
              <a:effectLst/>
              <a:latin typeface="-apple-system"/>
              <a:cs typeface="B Nazanin" panose="00000400000000000000" pitchFamily="2" charset="-78"/>
            </a:endParaRPr>
          </a:p>
        </p:txBody>
      </p:sp>
      <p:pic>
        <p:nvPicPr>
          <p:cNvPr id="5" name="Picture 4">
            <a:extLst>
              <a:ext uri="{FF2B5EF4-FFF2-40B4-BE49-F238E27FC236}">
                <a16:creationId xmlns:a16="http://schemas.microsoft.com/office/drawing/2014/main" id="{DF7868FD-FE4D-4844-9515-971827445819}"/>
              </a:ext>
            </a:extLst>
          </p:cNvPr>
          <p:cNvPicPr>
            <a:picLocks noChangeAspect="1"/>
          </p:cNvPicPr>
          <p:nvPr/>
        </p:nvPicPr>
        <p:blipFill>
          <a:blip r:embed="rId2"/>
          <a:stretch>
            <a:fillRect/>
          </a:stretch>
        </p:blipFill>
        <p:spPr>
          <a:xfrm>
            <a:off x="7953816" y="1690951"/>
            <a:ext cx="3895090" cy="347609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7" name="Picture 6">
            <a:extLst>
              <a:ext uri="{FF2B5EF4-FFF2-40B4-BE49-F238E27FC236}">
                <a16:creationId xmlns:a16="http://schemas.microsoft.com/office/drawing/2014/main" id="{B5F50258-4AFB-4B79-B32C-743F0EC07AE1}"/>
              </a:ext>
            </a:extLst>
          </p:cNvPr>
          <p:cNvPicPr>
            <a:picLocks noChangeAspect="1"/>
          </p:cNvPicPr>
          <p:nvPr/>
        </p:nvPicPr>
        <p:blipFill>
          <a:blip r:embed="rId3"/>
          <a:stretch>
            <a:fillRect/>
          </a:stretch>
        </p:blipFill>
        <p:spPr>
          <a:xfrm>
            <a:off x="1551368" y="3351204"/>
            <a:ext cx="6096000" cy="304464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8" name="TextBox 7">
            <a:extLst>
              <a:ext uri="{FF2B5EF4-FFF2-40B4-BE49-F238E27FC236}">
                <a16:creationId xmlns:a16="http://schemas.microsoft.com/office/drawing/2014/main" id="{E09E8FB4-BF6A-41C4-ACF8-2061EF739578}"/>
              </a:ext>
            </a:extLst>
          </p:cNvPr>
          <p:cNvSpPr txBox="1"/>
          <p:nvPr/>
        </p:nvSpPr>
        <p:spPr>
          <a:xfrm>
            <a:off x="243840" y="751840"/>
            <a:ext cx="528320" cy="369332"/>
          </a:xfrm>
          <a:prstGeom prst="rect">
            <a:avLst/>
          </a:prstGeom>
          <a:noFill/>
        </p:spPr>
        <p:txBody>
          <a:bodyPr wrap="square" rtlCol="0">
            <a:spAutoFit/>
          </a:bodyPr>
          <a:lstStyle/>
          <a:p>
            <a:pPr algn="r" rtl="1"/>
            <a:r>
              <a:rPr lang="en-US" dirty="0">
                <a:solidFill>
                  <a:schemeClr val="bg1"/>
                </a:solidFill>
                <a:cs typeface="B Nazanin" panose="00000400000000000000" pitchFamily="2" charset="-78"/>
              </a:rPr>
              <a:t>11</a:t>
            </a:r>
          </a:p>
        </p:txBody>
      </p:sp>
    </p:spTree>
    <p:extLst>
      <p:ext uri="{BB962C8B-B14F-4D97-AF65-F5344CB8AC3E}">
        <p14:creationId xmlns:p14="http://schemas.microsoft.com/office/powerpoint/2010/main" val="412675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77A-F9CF-424F-84AA-D8C843F1B4C4}"/>
              </a:ext>
            </a:extLst>
          </p:cNvPr>
          <p:cNvSpPr>
            <a:spLocks noGrp="1"/>
          </p:cNvSpPr>
          <p:nvPr>
            <p:ph type="title"/>
          </p:nvPr>
        </p:nvSpPr>
        <p:spPr/>
        <p:txBody>
          <a:bodyPr/>
          <a:lstStyle/>
          <a:p>
            <a:pPr algn="r"/>
            <a:r>
              <a:rPr lang="fa-IR" b="1" i="0" dirty="0">
                <a:solidFill>
                  <a:schemeClr val="accent1"/>
                </a:solidFill>
                <a:effectLst/>
                <a:latin typeface="-apple-system"/>
                <a:cs typeface="B Nazanin" panose="00000400000000000000" pitchFamily="2" charset="-78"/>
              </a:rPr>
              <a:t>چرا ما انقدر مشکلات داریم!</a:t>
            </a:r>
            <a:endParaRPr lang="en-US" dirty="0">
              <a:solidFill>
                <a:schemeClr val="accent1"/>
              </a:solidFill>
              <a:cs typeface="B Nazanin" panose="00000400000000000000" pitchFamily="2" charset="-78"/>
            </a:endParaRPr>
          </a:p>
        </p:txBody>
      </p:sp>
      <p:sp>
        <p:nvSpPr>
          <p:cNvPr id="3" name="Content Placeholder 2">
            <a:extLst>
              <a:ext uri="{FF2B5EF4-FFF2-40B4-BE49-F238E27FC236}">
                <a16:creationId xmlns:a16="http://schemas.microsoft.com/office/drawing/2014/main" id="{0619F152-B119-4B23-9A5D-EB233158E6F0}"/>
              </a:ext>
            </a:extLst>
          </p:cNvPr>
          <p:cNvSpPr>
            <a:spLocks noGrp="1"/>
          </p:cNvSpPr>
          <p:nvPr>
            <p:ph idx="1"/>
          </p:nvPr>
        </p:nvSpPr>
        <p:spPr>
          <a:xfrm>
            <a:off x="8575040" y="2133600"/>
            <a:ext cx="2929572" cy="3777622"/>
          </a:xfrm>
        </p:spPr>
        <p:txBody>
          <a:bodyPr>
            <a:noAutofit/>
          </a:bodyPr>
          <a:lstStyle/>
          <a:p>
            <a:pPr algn="just" rtl="1"/>
            <a:r>
              <a:rPr lang="fa-IR" b="0" i="0" dirty="0">
                <a:solidFill>
                  <a:schemeClr val="tx1"/>
                </a:solidFill>
                <a:effectLst/>
                <a:latin typeface="-apple-system"/>
                <a:cs typeface="B Nazanin" panose="00000400000000000000" pitchFamily="2" charset="-78"/>
              </a:rPr>
              <a:t>تصویرهای تولیدی! </a:t>
            </a:r>
          </a:p>
          <a:p>
            <a:pPr algn="just" rtl="1"/>
            <a:r>
              <a:rPr lang="fa-IR" dirty="0">
                <a:solidFill>
                  <a:schemeClr val="tx1"/>
                </a:solidFill>
                <a:latin typeface="-apple-system"/>
                <a:cs typeface="B Nazanin" panose="00000400000000000000" pitchFamily="2" charset="-78"/>
              </a:rPr>
              <a:t>مقاله های مشکل دار!</a:t>
            </a:r>
            <a:endParaRPr lang="fa-IR" b="0" i="0" dirty="0">
              <a:solidFill>
                <a:schemeClr val="tx1"/>
              </a:solidFill>
              <a:effectLst/>
              <a:latin typeface="-apple-system"/>
              <a:cs typeface="B Nazanin" panose="00000400000000000000" pitchFamily="2" charset="-78"/>
            </a:endParaRPr>
          </a:p>
        </p:txBody>
      </p:sp>
      <p:pic>
        <p:nvPicPr>
          <p:cNvPr id="5" name="Picture 4">
            <a:extLst>
              <a:ext uri="{FF2B5EF4-FFF2-40B4-BE49-F238E27FC236}">
                <a16:creationId xmlns:a16="http://schemas.microsoft.com/office/drawing/2014/main" id="{BAC5B202-35B2-4ACA-A9F2-05A99AD09924}"/>
              </a:ext>
            </a:extLst>
          </p:cNvPr>
          <p:cNvPicPr>
            <a:picLocks noChangeAspect="1"/>
          </p:cNvPicPr>
          <p:nvPr/>
        </p:nvPicPr>
        <p:blipFill>
          <a:blip r:embed="rId2"/>
          <a:stretch>
            <a:fillRect/>
          </a:stretch>
        </p:blipFill>
        <p:spPr>
          <a:xfrm>
            <a:off x="2842465" y="2996664"/>
            <a:ext cx="8408894" cy="29145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Content Placeholder 2">
            <a:extLst>
              <a:ext uri="{FF2B5EF4-FFF2-40B4-BE49-F238E27FC236}">
                <a16:creationId xmlns:a16="http://schemas.microsoft.com/office/drawing/2014/main" id="{04BEC7D5-DB54-4B44-BC99-6E74581740FC}"/>
              </a:ext>
            </a:extLst>
          </p:cNvPr>
          <p:cNvSpPr txBox="1">
            <a:spLocks/>
          </p:cNvSpPr>
          <p:nvPr/>
        </p:nvSpPr>
        <p:spPr>
          <a:xfrm>
            <a:off x="6419963" y="2113280"/>
            <a:ext cx="2929572" cy="377762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just" rtl="1"/>
            <a:r>
              <a:rPr lang="fa-IR" sz="2000" dirty="0">
                <a:solidFill>
                  <a:schemeClr val="tx1"/>
                </a:solidFill>
                <a:latin typeface="-apple-system"/>
                <a:cs typeface="B Nazanin" panose="00000400000000000000" pitchFamily="2" charset="-78"/>
              </a:rPr>
              <a:t>کردیت کارت!</a:t>
            </a:r>
          </a:p>
          <a:p>
            <a:pPr algn="just" rtl="1"/>
            <a:r>
              <a:rPr lang="fa-IR" sz="2000" dirty="0">
                <a:solidFill>
                  <a:schemeClr val="tx1"/>
                </a:solidFill>
                <a:latin typeface="-apple-system"/>
                <a:cs typeface="B Nazanin" panose="00000400000000000000" pitchFamily="2" charset="-78"/>
              </a:rPr>
              <a:t>تحریم سایت ها و </a:t>
            </a:r>
            <a:r>
              <a:rPr lang="en-US" sz="2000" dirty="0">
                <a:solidFill>
                  <a:schemeClr val="tx1"/>
                </a:solidFill>
                <a:latin typeface="-apple-system"/>
                <a:cs typeface="B Nazanin" panose="00000400000000000000" pitchFamily="2" charset="-78"/>
              </a:rPr>
              <a:t>VPN</a:t>
            </a:r>
            <a:r>
              <a:rPr lang="fa-IR" sz="2000" dirty="0">
                <a:solidFill>
                  <a:schemeClr val="tx1"/>
                </a:solidFill>
                <a:latin typeface="-apple-system"/>
                <a:cs typeface="B Nazanin" panose="00000400000000000000" pitchFamily="2" charset="-78"/>
              </a:rPr>
              <a:t> !</a:t>
            </a:r>
          </a:p>
        </p:txBody>
      </p:sp>
      <p:sp>
        <p:nvSpPr>
          <p:cNvPr id="7" name="TextBox 6">
            <a:extLst>
              <a:ext uri="{FF2B5EF4-FFF2-40B4-BE49-F238E27FC236}">
                <a16:creationId xmlns:a16="http://schemas.microsoft.com/office/drawing/2014/main" id="{605B7715-D41B-4165-9C88-00AF2CE0D171}"/>
              </a:ext>
            </a:extLst>
          </p:cNvPr>
          <p:cNvSpPr txBox="1"/>
          <p:nvPr/>
        </p:nvSpPr>
        <p:spPr>
          <a:xfrm>
            <a:off x="243840" y="751840"/>
            <a:ext cx="528320" cy="369332"/>
          </a:xfrm>
          <a:prstGeom prst="rect">
            <a:avLst/>
          </a:prstGeom>
          <a:noFill/>
        </p:spPr>
        <p:txBody>
          <a:bodyPr wrap="square" rtlCol="0">
            <a:spAutoFit/>
          </a:bodyPr>
          <a:lstStyle/>
          <a:p>
            <a:pPr algn="r" rtl="1"/>
            <a:r>
              <a:rPr lang="en-US" dirty="0">
                <a:solidFill>
                  <a:schemeClr val="bg1"/>
                </a:solidFill>
                <a:cs typeface="B Nazanin" panose="00000400000000000000" pitchFamily="2" charset="-78"/>
              </a:rPr>
              <a:t>12</a:t>
            </a:r>
          </a:p>
        </p:txBody>
      </p:sp>
    </p:spTree>
    <p:extLst>
      <p:ext uri="{BB962C8B-B14F-4D97-AF65-F5344CB8AC3E}">
        <p14:creationId xmlns:p14="http://schemas.microsoft.com/office/powerpoint/2010/main" val="2841110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77A-F9CF-424F-84AA-D8C843F1B4C4}"/>
              </a:ext>
            </a:extLst>
          </p:cNvPr>
          <p:cNvSpPr>
            <a:spLocks noGrp="1"/>
          </p:cNvSpPr>
          <p:nvPr>
            <p:ph type="title"/>
          </p:nvPr>
        </p:nvSpPr>
        <p:spPr/>
        <p:txBody>
          <a:bodyPr/>
          <a:lstStyle/>
          <a:p>
            <a:pPr algn="r"/>
            <a:r>
              <a:rPr lang="fa-IR" b="1" i="0" dirty="0">
                <a:solidFill>
                  <a:schemeClr val="accent1"/>
                </a:solidFill>
                <a:effectLst/>
                <a:latin typeface="-apple-system"/>
                <a:cs typeface="B Nazanin" panose="00000400000000000000" pitchFamily="2" charset="-78"/>
              </a:rPr>
              <a:t>در آخر...</a:t>
            </a:r>
            <a:endParaRPr lang="en-US" dirty="0">
              <a:solidFill>
                <a:schemeClr val="accent1"/>
              </a:solidFill>
              <a:cs typeface="B Nazanin" panose="00000400000000000000" pitchFamily="2" charset="-78"/>
            </a:endParaRPr>
          </a:p>
        </p:txBody>
      </p:sp>
      <p:sp>
        <p:nvSpPr>
          <p:cNvPr id="3" name="Content Placeholder 2">
            <a:extLst>
              <a:ext uri="{FF2B5EF4-FFF2-40B4-BE49-F238E27FC236}">
                <a16:creationId xmlns:a16="http://schemas.microsoft.com/office/drawing/2014/main" id="{0619F152-B119-4B23-9A5D-EB233158E6F0}"/>
              </a:ext>
            </a:extLst>
          </p:cNvPr>
          <p:cNvSpPr>
            <a:spLocks noGrp="1"/>
          </p:cNvSpPr>
          <p:nvPr>
            <p:ph idx="1"/>
          </p:nvPr>
        </p:nvSpPr>
        <p:spPr/>
        <p:txBody>
          <a:bodyPr>
            <a:normAutofit/>
          </a:bodyPr>
          <a:lstStyle/>
          <a:p>
            <a:pPr algn="just" rtl="1"/>
            <a:r>
              <a:rPr lang="fa-IR" sz="2000" b="0" i="0" dirty="0">
                <a:solidFill>
                  <a:schemeClr val="tx1"/>
                </a:solidFill>
                <a:effectLst/>
                <a:latin typeface="-apple-system"/>
                <a:cs typeface="B Nazanin" panose="00000400000000000000" pitchFamily="2" charset="-78"/>
              </a:rPr>
              <a:t>این پروژه شاید هیچوقت نخواد کاملا عملی بشه (شاید هم بشه) اما برای من اینکه یک ایده رو بتونم با این هزینه به تولید نهایی برسونم خیلی هیجان انگیز بود و خواستم با دیگران به اشتراک بزارم</a:t>
            </a:r>
          </a:p>
          <a:p>
            <a:pPr algn="just" rtl="1"/>
            <a:endParaRPr lang="fa-IR" sz="2000" dirty="0">
              <a:solidFill>
                <a:schemeClr val="tx1"/>
              </a:solidFill>
              <a:latin typeface="-apple-system"/>
              <a:cs typeface="B Nazanin" panose="00000400000000000000" pitchFamily="2" charset="-78"/>
            </a:endParaRPr>
          </a:p>
          <a:p>
            <a:pPr algn="just" rtl="1"/>
            <a:r>
              <a:rPr lang="fa-IR" sz="2000" b="0" i="0" dirty="0">
                <a:solidFill>
                  <a:schemeClr val="tx1"/>
                </a:solidFill>
                <a:effectLst/>
                <a:latin typeface="-apple-system"/>
                <a:cs typeface="B Nazanin" panose="00000400000000000000" pitchFamily="2" charset="-78"/>
              </a:rPr>
              <a:t> در واقع این یک آزمایش هست که آیا من توانایی این رو دارم که از هوش مصنوعی درخواستهای صحیح انجام بدم تا به یه محصول واقعی که واقعا هم کار میکنه برسم یا نه!</a:t>
            </a:r>
          </a:p>
          <a:p>
            <a:pPr algn="just" rtl="1"/>
            <a:r>
              <a:rPr lang="fa-IR" sz="2000" i="0" dirty="0">
                <a:solidFill>
                  <a:schemeClr val="tx1"/>
                </a:solidFill>
                <a:effectLst/>
                <a:latin typeface="-apple-system"/>
                <a:cs typeface="B Nazanin" panose="00000400000000000000" pitchFamily="2" charset="-78"/>
              </a:rPr>
              <a:t>تمامی مستندات و کدهای پروژه</a:t>
            </a:r>
            <a:r>
              <a:rPr lang="en-US" sz="2000" i="0" dirty="0">
                <a:solidFill>
                  <a:schemeClr val="tx1"/>
                </a:solidFill>
                <a:effectLst/>
                <a:latin typeface="-apple-system"/>
                <a:cs typeface="B Nazanin" panose="00000400000000000000" pitchFamily="2" charset="-78"/>
              </a:rPr>
              <a:t>:</a:t>
            </a:r>
            <a:endParaRPr lang="fa-IR" sz="2000" i="0" dirty="0">
              <a:solidFill>
                <a:schemeClr val="tx1"/>
              </a:solidFill>
              <a:effectLst/>
              <a:latin typeface="-apple-system"/>
              <a:cs typeface="B Nazanin" panose="00000400000000000000" pitchFamily="2" charset="-78"/>
            </a:endParaRPr>
          </a:p>
        </p:txBody>
      </p:sp>
      <p:sp>
        <p:nvSpPr>
          <p:cNvPr id="5" name="TextBox 4">
            <a:extLst>
              <a:ext uri="{FF2B5EF4-FFF2-40B4-BE49-F238E27FC236}">
                <a16:creationId xmlns:a16="http://schemas.microsoft.com/office/drawing/2014/main" id="{80AFFDA1-6F09-476C-8196-AF5985AA94AD}"/>
              </a:ext>
            </a:extLst>
          </p:cNvPr>
          <p:cNvSpPr txBox="1"/>
          <p:nvPr/>
        </p:nvSpPr>
        <p:spPr>
          <a:xfrm>
            <a:off x="3093738" y="4569854"/>
            <a:ext cx="6768353" cy="369332"/>
          </a:xfrm>
          <a:prstGeom prst="rect">
            <a:avLst/>
          </a:prstGeom>
          <a:noFill/>
        </p:spPr>
        <p:txBody>
          <a:bodyPr wrap="square">
            <a:spAutoFit/>
          </a:bodyPr>
          <a:lstStyle/>
          <a:p>
            <a:r>
              <a:rPr lang="en-US" b="1" dirty="0">
                <a:hlinkClick r:id="rId2"/>
              </a:rPr>
              <a:t>https://github.com/recompileir-dev/ContentProduccer</a:t>
            </a:r>
            <a:endParaRPr lang="en-US" b="1" dirty="0"/>
          </a:p>
        </p:txBody>
      </p:sp>
      <p:sp>
        <p:nvSpPr>
          <p:cNvPr id="6" name="TextBox 5">
            <a:extLst>
              <a:ext uri="{FF2B5EF4-FFF2-40B4-BE49-F238E27FC236}">
                <a16:creationId xmlns:a16="http://schemas.microsoft.com/office/drawing/2014/main" id="{8ED05E1A-0E7F-426A-B28E-E478FC535BA7}"/>
              </a:ext>
            </a:extLst>
          </p:cNvPr>
          <p:cNvSpPr txBox="1"/>
          <p:nvPr/>
        </p:nvSpPr>
        <p:spPr>
          <a:xfrm>
            <a:off x="3093736" y="5181764"/>
            <a:ext cx="6768353" cy="369332"/>
          </a:xfrm>
          <a:prstGeom prst="rect">
            <a:avLst/>
          </a:prstGeom>
          <a:noFill/>
        </p:spPr>
        <p:txBody>
          <a:bodyPr wrap="square">
            <a:spAutoFit/>
          </a:bodyPr>
          <a:lstStyle/>
          <a:p>
            <a:r>
              <a:rPr lang="en-US" b="1" dirty="0">
                <a:hlinkClick r:id="rId3"/>
              </a:rPr>
              <a:t>https://recompile.ir</a:t>
            </a:r>
            <a:endParaRPr lang="en-US" b="1" dirty="0"/>
          </a:p>
        </p:txBody>
      </p:sp>
      <p:sp>
        <p:nvSpPr>
          <p:cNvPr id="7" name="TextBox 6">
            <a:extLst>
              <a:ext uri="{FF2B5EF4-FFF2-40B4-BE49-F238E27FC236}">
                <a16:creationId xmlns:a16="http://schemas.microsoft.com/office/drawing/2014/main" id="{AC269F76-2EAB-4F65-823D-FBA1E1079473}"/>
              </a:ext>
            </a:extLst>
          </p:cNvPr>
          <p:cNvSpPr txBox="1"/>
          <p:nvPr/>
        </p:nvSpPr>
        <p:spPr>
          <a:xfrm>
            <a:off x="3093736" y="5788669"/>
            <a:ext cx="6768353" cy="369332"/>
          </a:xfrm>
          <a:prstGeom prst="rect">
            <a:avLst/>
          </a:prstGeom>
          <a:noFill/>
        </p:spPr>
        <p:txBody>
          <a:bodyPr wrap="square">
            <a:spAutoFit/>
          </a:bodyPr>
          <a:lstStyle/>
          <a:p>
            <a:r>
              <a:rPr lang="en-US" b="1" dirty="0">
                <a:hlinkClick r:id="rId4"/>
              </a:rPr>
              <a:t>https://t.me/recompile_ir</a:t>
            </a:r>
            <a:endParaRPr lang="en-US" b="1" dirty="0"/>
          </a:p>
        </p:txBody>
      </p:sp>
      <p:pic>
        <p:nvPicPr>
          <p:cNvPr id="9" name="Picture 8">
            <a:extLst>
              <a:ext uri="{FF2B5EF4-FFF2-40B4-BE49-F238E27FC236}">
                <a16:creationId xmlns:a16="http://schemas.microsoft.com/office/drawing/2014/main" id="{D5B2E6CA-3E9E-4F38-831A-78CC8E582D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52212" y="4958825"/>
            <a:ext cx="914400" cy="914400"/>
          </a:xfrm>
          <a:prstGeom prst="rect">
            <a:avLst/>
          </a:prstGeom>
        </p:spPr>
      </p:pic>
      <p:pic>
        <p:nvPicPr>
          <p:cNvPr id="11" name="Picture 10">
            <a:extLst>
              <a:ext uri="{FF2B5EF4-FFF2-40B4-BE49-F238E27FC236}">
                <a16:creationId xmlns:a16="http://schemas.microsoft.com/office/drawing/2014/main" id="{F60E06D7-55E1-416C-9688-D6FAA169ACF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89209" y="4579452"/>
            <a:ext cx="446258" cy="446258"/>
          </a:xfrm>
          <a:prstGeom prst="rect">
            <a:avLst/>
          </a:prstGeom>
        </p:spPr>
      </p:pic>
      <p:pic>
        <p:nvPicPr>
          <p:cNvPr id="13" name="Picture 12">
            <a:extLst>
              <a:ext uri="{FF2B5EF4-FFF2-40B4-BE49-F238E27FC236}">
                <a16:creationId xmlns:a16="http://schemas.microsoft.com/office/drawing/2014/main" id="{4659C61C-E49D-4399-90FF-2D83DEA0CC8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89209" y="5153346"/>
            <a:ext cx="460440" cy="460440"/>
          </a:xfrm>
          <a:prstGeom prst="rect">
            <a:avLst/>
          </a:prstGeom>
        </p:spPr>
      </p:pic>
      <p:pic>
        <p:nvPicPr>
          <p:cNvPr id="15" name="Picture 14">
            <a:extLst>
              <a:ext uri="{FF2B5EF4-FFF2-40B4-BE49-F238E27FC236}">
                <a16:creationId xmlns:a16="http://schemas.microsoft.com/office/drawing/2014/main" id="{DEE4B9DD-49F4-4034-9C56-90E1E9548F9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04217" y="5758204"/>
            <a:ext cx="460440" cy="460440"/>
          </a:xfrm>
          <a:prstGeom prst="rect">
            <a:avLst/>
          </a:prstGeom>
        </p:spPr>
      </p:pic>
      <p:sp>
        <p:nvSpPr>
          <p:cNvPr id="16" name="TextBox 15">
            <a:extLst>
              <a:ext uri="{FF2B5EF4-FFF2-40B4-BE49-F238E27FC236}">
                <a16:creationId xmlns:a16="http://schemas.microsoft.com/office/drawing/2014/main" id="{703D29EB-B90C-4AAF-8D1F-DB42F369505E}"/>
              </a:ext>
            </a:extLst>
          </p:cNvPr>
          <p:cNvSpPr txBox="1"/>
          <p:nvPr/>
        </p:nvSpPr>
        <p:spPr>
          <a:xfrm>
            <a:off x="243840" y="751840"/>
            <a:ext cx="528320" cy="369332"/>
          </a:xfrm>
          <a:prstGeom prst="rect">
            <a:avLst/>
          </a:prstGeom>
          <a:noFill/>
        </p:spPr>
        <p:txBody>
          <a:bodyPr wrap="square" rtlCol="0">
            <a:spAutoFit/>
          </a:bodyPr>
          <a:lstStyle/>
          <a:p>
            <a:pPr algn="r" rtl="1"/>
            <a:r>
              <a:rPr lang="en-US" dirty="0">
                <a:solidFill>
                  <a:schemeClr val="bg1"/>
                </a:solidFill>
                <a:cs typeface="B Nazanin" panose="00000400000000000000" pitchFamily="2" charset="-78"/>
              </a:rPr>
              <a:t>13</a:t>
            </a:r>
          </a:p>
        </p:txBody>
      </p:sp>
    </p:spTree>
    <p:extLst>
      <p:ext uri="{BB962C8B-B14F-4D97-AF65-F5344CB8AC3E}">
        <p14:creationId xmlns:p14="http://schemas.microsoft.com/office/powerpoint/2010/main" val="2416828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77A-F9CF-424F-84AA-D8C843F1B4C4}"/>
              </a:ext>
            </a:extLst>
          </p:cNvPr>
          <p:cNvSpPr>
            <a:spLocks noGrp="1"/>
          </p:cNvSpPr>
          <p:nvPr>
            <p:ph type="title"/>
          </p:nvPr>
        </p:nvSpPr>
        <p:spPr/>
        <p:txBody>
          <a:bodyPr/>
          <a:lstStyle/>
          <a:p>
            <a:pPr algn="r"/>
            <a:r>
              <a:rPr lang="fa-IR" b="1" i="0" dirty="0">
                <a:solidFill>
                  <a:schemeClr val="accent1"/>
                </a:solidFill>
                <a:effectLst/>
                <a:latin typeface="-apple-system"/>
                <a:cs typeface="B Nazanin" panose="00000400000000000000" pitchFamily="2" charset="-78"/>
              </a:rPr>
              <a:t>تمام.</a:t>
            </a:r>
            <a:endParaRPr lang="en-US" dirty="0">
              <a:solidFill>
                <a:schemeClr val="accent1"/>
              </a:solidFill>
              <a:cs typeface="B Nazanin" panose="00000400000000000000" pitchFamily="2" charset="-78"/>
            </a:endParaRPr>
          </a:p>
        </p:txBody>
      </p:sp>
      <p:sp>
        <p:nvSpPr>
          <p:cNvPr id="3" name="Content Placeholder 2">
            <a:extLst>
              <a:ext uri="{FF2B5EF4-FFF2-40B4-BE49-F238E27FC236}">
                <a16:creationId xmlns:a16="http://schemas.microsoft.com/office/drawing/2014/main" id="{0619F152-B119-4B23-9A5D-EB233158E6F0}"/>
              </a:ext>
            </a:extLst>
          </p:cNvPr>
          <p:cNvSpPr>
            <a:spLocks noGrp="1"/>
          </p:cNvSpPr>
          <p:nvPr>
            <p:ph idx="1"/>
          </p:nvPr>
        </p:nvSpPr>
        <p:spPr>
          <a:xfrm>
            <a:off x="1818640" y="5161280"/>
            <a:ext cx="2357120" cy="914400"/>
          </a:xfrm>
        </p:spPr>
        <p:txBody>
          <a:bodyPr>
            <a:noAutofit/>
          </a:bodyPr>
          <a:lstStyle/>
          <a:p>
            <a:pPr algn="r" rtl="1"/>
            <a:r>
              <a:rPr lang="fa-IR" sz="2000" b="0" i="0" dirty="0">
                <a:solidFill>
                  <a:schemeClr val="tx1"/>
                </a:solidFill>
                <a:effectLst/>
                <a:latin typeface="-apple-system"/>
                <a:cs typeface="B Nazanin" panose="00000400000000000000" pitchFamily="2" charset="-78"/>
              </a:rPr>
              <a:t>محمد خوش کشت</a:t>
            </a:r>
          </a:p>
          <a:p>
            <a:pPr algn="r" rtl="1"/>
            <a:r>
              <a:rPr lang="fa-IR" sz="2000" dirty="0">
                <a:solidFill>
                  <a:schemeClr val="tx1"/>
                </a:solidFill>
                <a:latin typeface="-apple-system"/>
                <a:cs typeface="B Nazanin" panose="00000400000000000000" pitchFamily="2" charset="-78"/>
              </a:rPr>
              <a:t>بهار 1405</a:t>
            </a:r>
          </a:p>
          <a:p>
            <a:pPr algn="r" rtl="1"/>
            <a:endParaRPr lang="fa-IR" sz="2000" b="0" i="0" dirty="0">
              <a:solidFill>
                <a:schemeClr val="tx1"/>
              </a:solidFill>
              <a:effectLst/>
              <a:latin typeface="-apple-system"/>
              <a:cs typeface="B Nazanin" panose="00000400000000000000" pitchFamily="2" charset="-78"/>
            </a:endParaRPr>
          </a:p>
        </p:txBody>
      </p:sp>
      <p:sp>
        <p:nvSpPr>
          <p:cNvPr id="6" name="TextBox 5">
            <a:extLst>
              <a:ext uri="{FF2B5EF4-FFF2-40B4-BE49-F238E27FC236}">
                <a16:creationId xmlns:a16="http://schemas.microsoft.com/office/drawing/2014/main" id="{A7D23E33-2EA3-47F9-BE33-3F39FBE59BF8}"/>
              </a:ext>
            </a:extLst>
          </p:cNvPr>
          <p:cNvSpPr txBox="1"/>
          <p:nvPr/>
        </p:nvSpPr>
        <p:spPr>
          <a:xfrm>
            <a:off x="243840" y="751840"/>
            <a:ext cx="528320" cy="369332"/>
          </a:xfrm>
          <a:prstGeom prst="rect">
            <a:avLst/>
          </a:prstGeom>
          <a:noFill/>
        </p:spPr>
        <p:txBody>
          <a:bodyPr wrap="square" rtlCol="0">
            <a:spAutoFit/>
          </a:bodyPr>
          <a:lstStyle/>
          <a:p>
            <a:pPr algn="r" rtl="1"/>
            <a:r>
              <a:rPr lang="en-US" dirty="0">
                <a:solidFill>
                  <a:schemeClr val="bg1"/>
                </a:solidFill>
                <a:cs typeface="B Nazanin" panose="00000400000000000000" pitchFamily="2" charset="-78"/>
              </a:rPr>
              <a:t>14</a:t>
            </a:r>
          </a:p>
        </p:txBody>
      </p:sp>
    </p:spTree>
    <p:extLst>
      <p:ext uri="{BB962C8B-B14F-4D97-AF65-F5344CB8AC3E}">
        <p14:creationId xmlns:p14="http://schemas.microsoft.com/office/powerpoint/2010/main" val="304992779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58</TotalTime>
  <Words>1475</Words>
  <Application>Microsoft Office PowerPoint</Application>
  <PresentationFormat>Widescreen</PresentationFormat>
  <Paragraphs>101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-apple-system</vt:lpstr>
      <vt:lpstr>Arial</vt:lpstr>
      <vt:lpstr>Century Gothic</vt:lpstr>
      <vt:lpstr>Wingdings 3</vt:lpstr>
      <vt:lpstr>Wisp</vt:lpstr>
      <vt:lpstr>اولین تجربه تولید کامل یک ایده با AI</vt:lpstr>
      <vt:lpstr>خلاصه  </vt:lpstr>
      <vt:lpstr>وضعیت فعلی پروژه  </vt:lpstr>
      <vt:lpstr>یه کم از آخرش رو اول میگم</vt:lpstr>
      <vt:lpstr>تحلیل سبک فرمان‌دهی </vt:lpstr>
      <vt:lpstr>تحلیل سبک فرمان‌دهی </vt:lpstr>
      <vt:lpstr>خط زمانی فنی پروژه</vt:lpstr>
      <vt:lpstr>مشکلات مهم و درس‌های فنی</vt:lpstr>
      <vt:lpstr>اشکالات فعلی</vt:lpstr>
      <vt:lpstr>مستند سازی ارزان و ساده</vt:lpstr>
      <vt:lpstr>نمونه های انتشار</vt:lpstr>
      <vt:lpstr>چرا ما انقدر مشکلات داریم!</vt:lpstr>
      <vt:lpstr>در آخر...</vt:lpstr>
      <vt:lpstr>تمام.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khoshkesht</dc:creator>
  <cp:lastModifiedBy>mohammad khoshkesht</cp:lastModifiedBy>
  <cp:revision>23</cp:revision>
  <dcterms:created xsi:type="dcterms:W3CDTF">2026-06-05T19:07:15Z</dcterms:created>
  <dcterms:modified xsi:type="dcterms:W3CDTF">2026-06-05T20:06:04Z</dcterms:modified>
</cp:coreProperties>
</file>